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78" r:id="rId2"/>
    <p:sldId id="284" r:id="rId3"/>
    <p:sldId id="292" r:id="rId4"/>
    <p:sldId id="293" r:id="rId5"/>
    <p:sldId id="294" r:id="rId6"/>
    <p:sldId id="297" r:id="rId7"/>
    <p:sldId id="287" r:id="rId8"/>
    <p:sldId id="290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2E521E-A724-C44A-BF09-26F2424B032D}" v="82" dt="2026-05-03T15:16:45.063"/>
    <p1510:client id="{69EC5D4D-D6D7-6708-3F42-BA35EF324EB4}" v="35" dt="2026-05-03T15:16:30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24"/>
    <p:restoredTop sz="94645"/>
  </p:normalViewPr>
  <p:slideViewPr>
    <p:cSldViewPr snapToGrid="0">
      <p:cViewPr>
        <p:scale>
          <a:sx n="127" d="100"/>
          <a:sy n="127" d="100"/>
        </p:scale>
        <p:origin x="14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002B5C"/>
                </a:solidFill>
              </a:defRPr>
            </a:pPr>
            <a:r>
              <a:rPr lang="es-MX" sz="1400" b="1">
                <a:solidFill>
                  <a:srgbClr val="002B5C"/>
                </a:solidFill>
              </a:rPr>
              <a:t>Tiempo de ejecución (ms, escala log)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Fuerza Bruta</c:v>
          </c:tx>
          <c:spPr>
            <a:solidFill>
              <a:srgbClr val="C810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Python</c:v>
              </c:pt>
              <c:pt idx="1">
                <c:v>C++</c:v>
              </c:pt>
              <c:pt idx="2">
                <c:v>Java</c:v>
              </c:pt>
            </c:strLit>
          </c:cat>
          <c:val>
            <c:numLit>
              <c:formatCode>General</c:formatCode>
              <c:ptCount val="3"/>
              <c:pt idx="0">
                <c:v>182.65</c:v>
              </c:pt>
              <c:pt idx="1">
                <c:v>11.75</c:v>
              </c:pt>
              <c:pt idx="2">
                <c:v>49.29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18E-A841-980C-D1EF26EA7130}"/>
            </c:ext>
          </c:extLst>
        </c:ser>
        <c:ser>
          <c:idx val="1"/>
          <c:order val="1"/>
          <c:tx>
            <c:v>Programación Dinámica</c:v>
          </c:tx>
          <c:spPr>
            <a:solidFill>
              <a:srgbClr val="002B5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Python</c:v>
              </c:pt>
              <c:pt idx="1">
                <c:v>C++</c:v>
              </c:pt>
              <c:pt idx="2">
                <c:v>Java</c:v>
              </c:pt>
            </c:strLit>
          </c:cat>
          <c:val>
            <c:numLit>
              <c:formatCode>General</c:formatCode>
              <c:ptCount val="3"/>
              <c:pt idx="0">
                <c:v>0.18</c:v>
              </c:pt>
              <c:pt idx="1">
                <c:v>0.05</c:v>
              </c:pt>
              <c:pt idx="2">
                <c:v>7.0000000000000007E-2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18E-A841-980C-D1EF26EA71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/>
          <a:lstStyle/>
          <a:p>
            <a:pPr>
              <a:defRPr sz="1400" b="1">
                <a:solidFill>
                  <a:srgbClr val="1A1A1A"/>
                </a:solidFill>
              </a:defRPr>
            </a:pPr>
            <a:endParaRPr lang="es-MX"/>
          </a:p>
        </c:txPr>
        <c:crossAx val="2"/>
        <c:crosses val="autoZero"/>
        <c:auto val="1"/>
        <c:lblAlgn val="ctr"/>
        <c:lblOffset val="200"/>
        <c:noMultiLvlLbl val="1"/>
      </c:catAx>
      <c:valAx>
        <c:axId val="2"/>
        <c:scaling>
          <c:logBase val="10"/>
          <c:orientation val="minMax"/>
          <c:min val="0.01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 b="1">
                    <a:solidFill>
                      <a:srgbClr val="3A4A60"/>
                    </a:solidFill>
                  </a:defRPr>
                </a:pPr>
                <a:r>
                  <a:rPr lang="es-MX" sz="1400" b="1">
                    <a:solidFill>
                      <a:srgbClr val="3A4A60"/>
                    </a:solidFill>
                  </a:rPr>
                  <a:t>milisegundos (log)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A4A60"/>
                </a:solidFill>
              </a:defRPr>
            </a:pPr>
            <a:endParaRPr lang="es-MX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s-MX"/>
        </a:p>
      </c:txPr>
    </c:legend>
    <c:plotVisOnly val="1"/>
    <c:dispBlanksAs val="gap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06FC6-0AE6-165A-9AFE-2398B0AA5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D0D311-FA5A-DC90-AC24-0C77585EC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1490BA-D90F-DB52-7785-EF26CAC9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785217-C869-6707-1060-DC8EC645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B4C890-B153-74FC-2DB8-DCB11C5D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9915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DA550-9C77-FF6B-C836-BBD0AB34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CE92B5-4AED-8246-E110-5A47A1FE6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2B5E64-634F-5D05-5D41-702F8EB1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5DD3D5-10D8-F221-7C87-0B8D8B119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650EFA-3857-749C-9CC9-AC540076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469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DD2C5-48D6-1900-BD3D-6393C4343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46BC05-14CC-5951-A220-04921CB95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336CF2-6024-6F9F-1B6D-EEA611FF7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B5FB03-1841-D1B7-0DFE-5376DFACE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E14BFE-2B98-3D0A-BE73-4ACC660C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8356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B5AE7-974A-458F-10C1-24815002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1DB7FE-34C7-DCF0-64CF-8FE895ED9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4B781C-1479-DE2A-242F-4753845BD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8EA850-2E0B-0CA8-FCBF-3818F4734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58C775-2D83-1442-02A6-0044DCB53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63BAC2-5B77-B5D1-DC51-9B64F0E76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239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AB6E5-119E-B964-D9ED-84281F2F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F5C552-1EC4-6BB5-7D27-FFFF83D4A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150B51-4F62-4C36-CE8F-2BC44C544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6D7A190-8788-29D6-4B2B-10BE11F74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42732E3-11AE-067A-DA52-81A6958E3B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2669A31-7585-27DE-6E06-FC1CA768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CAAF7A8-8DFF-BFEE-E62B-0D5A060FA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EBF611-0F8D-78C2-846E-7E7C4B3D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212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FA118-E86E-5DC5-E937-92600536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CDEE4C-D844-567A-A902-85379117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D1B0C5-C2B8-30AB-0A16-2F8A98022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5D98E3-C7EF-5C7C-95A0-E0809B99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538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2E0CEB-32CF-45DE-CB32-0751303A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3B2CF0-C4BD-B5E8-DD3A-9A26793E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AC3C17-C625-E771-A2CC-01A363AD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95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9FA6F-AD0F-9263-9BB2-4262978ED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4ABA9C-7E06-E21C-FC3D-642A76D0A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BFDC8B-75E5-3404-2C67-E9A053FFA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70FB1F-074F-5035-FD93-46AECED2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99C7B9-FAA9-2690-EA1C-AF619C4F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AB62F4-5B09-1262-CD81-13236F5C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057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75487-562D-4216-CDEA-7AB99EAB6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09585F-F0BA-B35B-9A9B-40EB04EF7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C9CA7A-5C06-AE5E-B56D-1726366AF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31BFB8-30A5-7571-8A3B-0372AC340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91E4A8-7AD5-4B89-64DB-AE1EE694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45E6B0-5D01-A87B-3921-FB12D033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090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E6D58-8142-3990-CB63-B9152DBE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7AE507-C9B7-1FCD-3FA3-77B40B9E1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5E9078-DD05-2D04-B752-8A249182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CEB556-63C1-A291-B1DE-F281046C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B6F5D6-E4A9-EE60-246E-671B561C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7329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4C28CF-7B74-2E07-2E36-CA6178567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12AEB2-32B4-4184-DBBA-8D4BDC0ED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8C661F-0048-1B93-BA49-8030A743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E641D7-C24C-EF05-6E17-AA34E0577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166744-B362-8D6F-D667-B6493426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3922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AE8BCD-6F11-F3DD-875B-CEA7307E9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FF225F-9571-AFBA-A30B-34AE5FC1A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D4906C-CB5B-D27C-B68A-BD861984E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0BBA9-CDD5-BA4B-B284-FA4BF18EC88B}" type="datetimeFigureOut">
              <a:rPr lang="es-CL" smtClean="0"/>
              <a:t>03-05-26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A26209-92EB-14D1-B678-1A3D87D9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B966D4-DE4A-C1C1-70ED-460C847AE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6C2ED-F13C-BD4C-ADA5-692CBACBFC9B}" type="slidenum">
              <a:rPr lang="es-CL" smtClean="0"/>
              <a:t>‹Nº›</a:t>
            </a:fld>
            <a:endParaRPr lang="es-CL"/>
          </a:p>
        </p:txBody>
      </p:sp>
      <p:sp>
        <p:nvSpPr>
          <p:cNvPr id="900" name="AccentBarTop"/>
          <p:cNvSpPr/>
          <p:nvPr userDrawn="1"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901" name="RedBarBottom"/>
          <p:cNvSpPr/>
          <p:nvPr userDrawn="1"/>
        </p:nvSpPr>
        <p:spPr>
          <a:xfrm>
            <a:off x="2590800" y="6448425"/>
            <a:ext cx="4572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902" name="FooterLeftText"/>
          <p:cNvSpPr txBox="1"/>
          <p:nvPr userDrawn="1"/>
        </p:nvSpPr>
        <p:spPr>
          <a:xfrm>
            <a:off x="2590800" y="6429375"/>
            <a:ext cx="59055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s-MX" sz="1000" dirty="0">
                <a:solidFill>
                  <a:srgbClr val="5B7A99"/>
                </a:solidFill>
              </a:rPr>
              <a:t>UNAB · Optimización · NRC 7925 · Knapsack 0-1</a:t>
            </a:r>
          </a:p>
        </p:txBody>
      </p:sp>
    </p:spTree>
    <p:extLst>
      <p:ext uri="{BB962C8B-B14F-4D97-AF65-F5344CB8AC3E}">
        <p14:creationId xmlns:p14="http://schemas.microsoft.com/office/powerpoint/2010/main" val="370292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B5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1A1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1A1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1A1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HeroBand"/>
          <p:cNvSpPr/>
          <p:nvPr/>
        </p:nvSpPr>
        <p:spPr>
          <a:xfrm>
            <a:off x="0" y="0"/>
            <a:ext cx="243840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201" name="RedAccent"/>
          <p:cNvSpPr/>
          <p:nvPr/>
        </p:nvSpPr>
        <p:spPr>
          <a:xfrm>
            <a:off x="2438400" y="2286000"/>
            <a:ext cx="76200" cy="2286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202" name="TopLabel"/>
          <p:cNvSpPr txBox="1"/>
          <p:nvPr/>
        </p:nvSpPr>
        <p:spPr>
          <a:xfrm>
            <a:off x="304800" y="685800"/>
            <a:ext cx="19812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s-MX" sz="1400" b="1" dirty="0">
                <a:solidFill>
                  <a:srgbClr val="FFFFFF"/>
                </a:solidFill>
              </a:rPr>
              <a:t>UNAB</a:t>
            </a:r>
          </a:p>
          <a:p>
            <a:pPr algn="l">
              <a:buNone/>
            </a:pPr>
            <a:r>
              <a:rPr lang="es-MX" sz="1100" dirty="0">
                <a:solidFill>
                  <a:srgbClr val="C8102E"/>
                </a:solidFill>
              </a:rPr>
              <a:t>OPTIMIZACIÓN</a:t>
            </a:r>
          </a:p>
          <a:p>
            <a:pPr algn="l">
              <a:buNone/>
            </a:pPr>
            <a:r>
              <a:rPr lang="es-MX" sz="1000" dirty="0">
                <a:solidFill>
                  <a:srgbClr val="C0C9D6"/>
                </a:solidFill>
              </a:rPr>
              <a:t>Control 2 · Problema #18</a:t>
            </a:r>
          </a:p>
        </p:txBody>
      </p:sp>
      <p:sp>
        <p:nvSpPr>
          <p:cNvPr id="203" name="BottomLabel"/>
          <p:cNvSpPr txBox="1"/>
          <p:nvPr/>
        </p:nvSpPr>
        <p:spPr>
          <a:xfrm>
            <a:off x="304800" y="5715000"/>
            <a:ext cx="1981200" cy="6858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algn="l">
              <a:buNone/>
            </a:pPr>
            <a:r>
              <a:rPr lang="es-MX" sz="900" b="1" dirty="0">
                <a:solidFill>
                  <a:srgbClr val="C0C9D6"/>
                </a:solidFill>
              </a:rPr>
              <a:t>NRC 7925 · Sección 551</a:t>
            </a:r>
          </a:p>
          <a:p>
            <a:pPr algn="l">
              <a:buNone/>
            </a:pPr>
            <a:r>
              <a:rPr lang="es-MX" sz="900" dirty="0">
                <a:solidFill>
                  <a:srgbClr val="9DA8B8"/>
                </a:solidFill>
              </a:rPr>
              <a:t>Karp, 1972 · NP-completo</a:t>
            </a:r>
          </a:p>
        </p:txBody>
      </p:sp>
      <p:sp>
        <p:nvSpPr>
          <p:cNvPr id="204" name="Eyebrow"/>
          <p:cNvSpPr txBox="1"/>
          <p:nvPr/>
        </p:nvSpPr>
        <p:spPr>
          <a:xfrm>
            <a:off x="2895600" y="1828800"/>
            <a:ext cx="5715000" cy="30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s-MX" sz="1400" b="1" spc="200" dirty="0">
                <a:solidFill>
                  <a:srgbClr val="C8102E"/>
                </a:solidFill>
              </a:rPr>
              <a:t>PROBLEMA DE LA MOCHILA 0-1</a:t>
            </a:r>
          </a:p>
        </p:txBody>
      </p:sp>
      <p:sp>
        <p:nvSpPr>
          <p:cNvPr id="205" name="MainTitle"/>
          <p:cNvSpPr txBox="1"/>
          <p:nvPr/>
        </p:nvSpPr>
        <p:spPr>
          <a:xfrm>
            <a:off x="2895600" y="2209800"/>
            <a:ext cx="5715000" cy="152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s-MX" sz="4000" b="1" dirty="0">
                <a:solidFill>
                  <a:srgbClr val="002B5C"/>
                </a:solidFill>
              </a:rPr>
              <a:t>Knapsack 0-1</a:t>
            </a:r>
          </a:p>
          <a:p>
            <a:pPr algn="l">
              <a:buNone/>
            </a:pPr>
            <a:r>
              <a:rPr lang="es-MX" sz="2000" dirty="0">
                <a:solidFill>
                  <a:srgbClr val="3A4A60"/>
                </a:solidFill>
              </a:rPr>
              <a:t>Modelado, implementación y análisis experimental</a:t>
            </a:r>
          </a:p>
        </p:txBody>
      </p:sp>
      <p:sp>
        <p:nvSpPr>
          <p:cNvPr id="206" name="SepLine"/>
          <p:cNvSpPr/>
          <p:nvPr/>
        </p:nvSpPr>
        <p:spPr>
          <a:xfrm>
            <a:off x="2895600" y="4191000"/>
            <a:ext cx="9144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207" name="Credits"/>
          <p:cNvSpPr txBox="1"/>
          <p:nvPr/>
        </p:nvSpPr>
        <p:spPr>
          <a:xfrm>
            <a:off x="2895600" y="4419600"/>
            <a:ext cx="57150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Aft>
                <a:spcPts val="200"/>
              </a:spcAft>
              <a:buNone/>
            </a:pPr>
            <a:r>
              <a:rPr lang="es-MX" sz="1100" b="1" spc="150" dirty="0">
                <a:solidFill>
                  <a:srgbClr val="5B7A99"/>
                </a:solidFill>
              </a:rPr>
              <a:t>INTEGRANTES</a:t>
            </a:r>
          </a:p>
          <a:p>
            <a:pPr algn="l">
              <a:spcAft>
                <a:spcPts val="100"/>
              </a:spcAft>
              <a:buNone/>
            </a:pPr>
            <a:r>
              <a:rPr lang="es-MX" sz="1600" dirty="0">
                <a:solidFill>
                  <a:srgbClr val="1A1A1A"/>
                </a:solidFill>
              </a:rPr>
              <a:t>Benjamín Huerta · Bastián Ibáñez · Joao Morales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es-MX" sz="1100" b="1" spc="150" dirty="0">
                <a:solidFill>
                  <a:srgbClr val="5B7A99"/>
                </a:solidFill>
              </a:rPr>
              <a:t>PROFESOR</a:t>
            </a:r>
          </a:p>
          <a:p>
            <a:pPr algn="l">
              <a:buNone/>
            </a:pPr>
            <a:r>
              <a:rPr lang="es-MX" sz="1600" dirty="0">
                <a:solidFill>
                  <a:srgbClr val="1A1A1A"/>
                </a:solidFill>
              </a:rPr>
              <a:t>Gustavo Esteban Gatica González</a:t>
            </a:r>
          </a:p>
        </p:txBody>
      </p:sp>
    </p:spTree>
    <p:extLst>
      <p:ext uri="{BB962C8B-B14F-4D97-AF65-F5344CB8AC3E}">
        <p14:creationId xmlns:p14="http://schemas.microsoft.com/office/powerpoint/2010/main" val="2997584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yebrow"/>
          <p:cNvSpPr txBox="1"/>
          <p:nvPr/>
        </p:nvSpPr>
        <p:spPr>
          <a:xfrm>
            <a:off x="457200" y="381000"/>
            <a:ext cx="3429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1200" b="1" spc="200" dirty="0">
                <a:solidFill>
                  <a:srgbClr val="C8102E"/>
                </a:solidFill>
              </a:rPr>
              <a:t>01 · EL PROBLEMA</a:t>
            </a:r>
          </a:p>
        </p:txBody>
      </p:sp>
      <p:sp>
        <p:nvSpPr>
          <p:cNvPr id="301" name="Title"/>
          <p:cNvSpPr txBox="1"/>
          <p:nvPr/>
        </p:nvSpPr>
        <p:spPr>
          <a:xfrm>
            <a:off x="457200" y="685800"/>
            <a:ext cx="8229600" cy="609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3200" b="1" dirty="0">
                <a:solidFill>
                  <a:srgbClr val="002B5C"/>
                </a:solidFill>
              </a:rPr>
              <a:t>¿Qué es el Knapsack 0-1?</a:t>
            </a:r>
          </a:p>
        </p:txBody>
      </p:sp>
      <p:sp>
        <p:nvSpPr>
          <p:cNvPr id="302" name="TitleLine"/>
          <p:cNvSpPr/>
          <p:nvPr/>
        </p:nvSpPr>
        <p:spPr>
          <a:xfrm>
            <a:off x="457200" y="1371600"/>
            <a:ext cx="685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3" name="LeftCol"/>
          <p:cNvSpPr txBox="1"/>
          <p:nvPr/>
        </p:nvSpPr>
        <p:spPr>
          <a:xfrm>
            <a:off x="457200" y="1638300"/>
            <a:ext cx="4572000" cy="4419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spcAft>
                <a:spcPts val="300"/>
              </a:spcAft>
              <a:buNone/>
            </a:pPr>
            <a:r>
              <a:rPr lang="es-MX" sz="1400" b="1" spc="150" dirty="0">
                <a:solidFill>
                  <a:srgbClr val="002B5C"/>
                </a:solidFill>
              </a:rPr>
              <a:t>DESCRIPCIÓN</a:t>
            </a:r>
          </a:p>
          <a:p>
            <a:pPr>
              <a:spcAft>
                <a:spcPts val="600"/>
              </a:spcAft>
              <a:buNone/>
            </a:pPr>
            <a:r>
              <a:rPr lang="es-MX" sz="1600" dirty="0"/>
              <a:t>Dado un conjunto de </a:t>
            </a:r>
            <a:r>
              <a:rPr lang="es-MX" sz="1600" b="1" dirty="0"/>
              <a:t>n ítems</a:t>
            </a:r>
            <a:r>
              <a:rPr lang="es-MX" sz="1600" dirty="0"/>
              <a:t> con peso </a:t>
            </a:r>
            <a:r>
              <a:rPr lang="es-MX" sz="1600" i="1" dirty="0"/>
              <a:t>wᵢ</a:t>
            </a:r>
            <a:r>
              <a:rPr lang="es-MX" sz="1600" dirty="0"/>
              <a:t> y valor </a:t>
            </a:r>
            <a:r>
              <a:rPr lang="es-MX" sz="1600" i="1" dirty="0"/>
              <a:t>vᵢ</a:t>
            </a:r>
            <a:r>
              <a:rPr lang="es-MX" sz="1600" dirty="0"/>
              <a:t>, y una mochila de capacidad </a:t>
            </a:r>
            <a:r>
              <a:rPr lang="es-MX" sz="1600" i="1" dirty="0"/>
              <a:t>C</a:t>
            </a:r>
            <a:r>
              <a:rPr lang="es-MX" sz="1600" dirty="0"/>
              <a:t>: elegir qué llevar para </a:t>
            </a:r>
            <a:r>
              <a:rPr lang="es-MX" sz="1600" b="1" dirty="0">
                <a:solidFill>
                  <a:srgbClr val="C8102E"/>
                </a:solidFill>
              </a:rPr>
              <a:t>maximizar el valor total</a:t>
            </a:r>
            <a:r>
              <a:rPr lang="es-MX" sz="1600" dirty="0"/>
              <a:t> sin exceder la capacidad.</a:t>
            </a:r>
          </a:p>
          <a:p>
            <a:pPr>
              <a:spcAft>
                <a:spcPts val="600"/>
              </a:spcAft>
              <a:buNone/>
            </a:pPr>
            <a:r>
              <a:rPr lang="es-MX" sz="1500" dirty="0">
                <a:solidFill>
                  <a:srgbClr val="3A4A60"/>
                </a:solidFill>
              </a:rPr>
              <a:t>Decisión binaria: cada ítem se incluye (</a:t>
            </a:r>
            <a:r>
              <a:rPr lang="es-MX" sz="1500" b="1" dirty="0">
                <a:solidFill>
                  <a:srgbClr val="002B5C"/>
                </a:solidFill>
              </a:rPr>
              <a:t>xᵢ=1</a:t>
            </a:r>
            <a:r>
              <a:rPr lang="es-MX" sz="1500" dirty="0">
                <a:solidFill>
                  <a:srgbClr val="3A4A60"/>
                </a:solidFill>
              </a:rPr>
              <a:t>) o no (</a:t>
            </a:r>
            <a:r>
              <a:rPr lang="es-MX" sz="1500" b="1" dirty="0">
                <a:solidFill>
                  <a:srgbClr val="002B5C"/>
                </a:solidFill>
              </a:rPr>
              <a:t>xᵢ=0</a:t>
            </a:r>
            <a:r>
              <a:rPr lang="es-MX" sz="1500" dirty="0">
                <a:solidFill>
                  <a:srgbClr val="3A4A60"/>
                </a:solidFill>
              </a:rPr>
              <a:t>). No se permiten fracciones.</a:t>
            </a:r>
          </a:p>
          <a:p>
            <a:pPr>
              <a:spcBef>
                <a:spcPts val="400"/>
              </a:spcBef>
              <a:spcAft>
                <a:spcPts val="300"/>
              </a:spcAft>
              <a:buNone/>
            </a:pPr>
            <a:r>
              <a:rPr lang="es-MX" sz="1400" b="1" spc="150" dirty="0">
                <a:solidFill>
                  <a:srgbClr val="002B5C"/>
                </a:solidFill>
              </a:rPr>
              <a:t>APLICACIONES REALES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s-MX" sz="1500" dirty="0"/>
              <a:t>Logística (carga de camiones)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s-MX" sz="1500" dirty="0"/>
              <a:t>Finanzas (selección de carteras)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s-MX" sz="1500" dirty="0"/>
              <a:t>Ciberseguridad (contramedidas con presupuesto)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s-MX" sz="1500" dirty="0"/>
              <a:t>Corte de materiales y asignación de recursos</a:t>
            </a:r>
          </a:p>
        </p:txBody>
      </p:sp>
      <p:sp>
        <p:nvSpPr>
          <p:cNvPr id="304" name="ExampleCard"/>
          <p:cNvSpPr/>
          <p:nvPr/>
        </p:nvSpPr>
        <p:spPr>
          <a:xfrm>
            <a:off x="6096000" y="1295400"/>
            <a:ext cx="3429000" cy="44196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6350">
            <a:solidFill>
              <a:srgbClr val="C0C9D6"/>
            </a:solidFill>
          </a:ln>
        </p:spPr>
        <p:txBody>
          <a:bodyPr/>
          <a:lstStyle/>
          <a:p>
            <a:pPr>
              <a:buNone/>
            </a:pPr>
            <a:endParaRPr lang="es-MX"/>
          </a:p>
        </p:txBody>
      </p:sp>
      <p:sp>
        <p:nvSpPr>
          <p:cNvPr id="305" name="ExampleHeader"/>
          <p:cNvSpPr txBox="1"/>
          <p:nvPr/>
        </p:nvSpPr>
        <p:spPr>
          <a:xfrm>
            <a:off x="6324600" y="1485900"/>
            <a:ext cx="2971800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spcAft>
                <a:spcPts val="100"/>
              </a:spcAft>
              <a:buNone/>
            </a:pPr>
            <a:r>
              <a:rPr lang="es-MX" sz="1200" b="1" spc="200" dirty="0">
                <a:solidFill>
                  <a:srgbClr val="C8102E"/>
                </a:solidFill>
              </a:rPr>
              <a:t>EJEMPLO MÍNIMO  ·  C = 10</a:t>
            </a:r>
          </a:p>
          <a:p>
            <a:pPr>
              <a:buNone/>
            </a:pPr>
            <a:r>
              <a:rPr lang="es-MX" sz="1300" dirty="0">
                <a:solidFill>
                  <a:srgbClr val="3A4A60"/>
                </a:solidFill>
              </a:rPr>
              <a:t>4 ítems · peso / valor / ratio</a:t>
            </a:r>
          </a:p>
        </p:txBody>
      </p:sp>
      <p:graphicFrame>
        <p:nvGraphicFramePr>
          <p:cNvPr id="3" name="ExampleTable">
            <a:extLst>
              <a:ext uri="{FF2B5EF4-FFF2-40B4-BE49-F238E27FC236}">
                <a16:creationId xmlns:a16="http://schemas.microsoft.com/office/drawing/2014/main" id="{D3ED6908-F3F1-104B-AEF6-06CBAC553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586507"/>
              </p:ext>
            </p:extLst>
          </p:nvPr>
        </p:nvGraphicFramePr>
        <p:xfrm>
          <a:off x="6324600" y="2247900"/>
          <a:ext cx="30480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417427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454454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2397732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2444573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s-CL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Ítem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wᵢ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vᵢ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Selec.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376089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 dirty="0">
                          <a:solidFill>
                            <a:srgbClr val="C8102E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98603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300" b="1" dirty="0">
                        <a:solidFill>
                          <a:srgbClr val="C8102E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6396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>
                          <a:solidFill>
                            <a:srgbClr val="C8102E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42573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 dirty="0">
                          <a:solidFill>
                            <a:srgbClr val="C8102E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299868"/>
                  </a:ext>
                </a:extLst>
              </a:tr>
            </a:tbl>
          </a:graphicData>
        </a:graphic>
      </p:graphicFrame>
      <p:sp>
        <p:nvSpPr>
          <p:cNvPr id="4" name="ResultBox">
            <a:extLst>
              <a:ext uri="{FF2B5EF4-FFF2-40B4-BE49-F238E27FC236}">
                <a16:creationId xmlns:a16="http://schemas.microsoft.com/office/drawing/2014/main" id="{72027B0A-7001-2A46-8B2A-97531A2233E1}"/>
              </a:ext>
            </a:extLst>
          </p:cNvPr>
          <p:cNvSpPr/>
          <p:nvPr/>
        </p:nvSpPr>
        <p:spPr>
          <a:xfrm>
            <a:off x="6388100" y="4279900"/>
            <a:ext cx="2921000" cy="952500"/>
          </a:xfrm>
          <a:prstGeom prst="rect">
            <a:avLst/>
          </a:prstGeom>
          <a:solidFill>
            <a:srgbClr val="002B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spcAft>
                <a:spcPts val="100"/>
              </a:spcAft>
              <a:buNone/>
            </a:pPr>
            <a:r>
              <a:rPr lang="es-MX" sz="1200" b="1" spc="150" dirty="0">
                <a:solidFill>
                  <a:srgbClr val="C8102E"/>
                </a:solidFill>
              </a:rPr>
              <a:t>SOLUCIÓN ÓPTIMA</a:t>
            </a:r>
          </a:p>
          <a:p>
            <a:pPr algn="ctr">
              <a:buNone/>
            </a:pPr>
            <a:r>
              <a:rPr lang="es-MX" sz="2000" b="1" dirty="0">
                <a:solidFill>
                  <a:schemeClr val="bg1"/>
                </a:solidFill>
              </a:rPr>
              <a:t>Z = 22</a:t>
            </a:r>
            <a:r>
              <a:rPr lang="es-MX" sz="1400" dirty="0">
                <a:solidFill>
                  <a:schemeClr val="bg1"/>
                </a:solidFill>
              </a:rPr>
              <a:t>   ítems {1,3,4} · peso 10/10</a:t>
            </a:r>
          </a:p>
        </p:txBody>
      </p:sp>
    </p:spTree>
    <p:extLst>
      <p:ext uri="{BB962C8B-B14F-4D97-AF65-F5344CB8AC3E}">
        <p14:creationId xmlns:p14="http://schemas.microsoft.com/office/powerpoint/2010/main" val="374355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yebrow"/>
          <p:cNvSpPr txBox="1"/>
          <p:nvPr/>
        </p:nvSpPr>
        <p:spPr>
          <a:xfrm>
            <a:off x="457200" y="381000"/>
            <a:ext cx="3429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1200" b="1" spc="200" dirty="0">
                <a:solidFill>
                  <a:srgbClr val="C8102E"/>
                </a:solidFill>
              </a:rPr>
              <a:t>02 · MODELO MATEMÁTICO</a:t>
            </a:r>
          </a:p>
        </p:txBody>
      </p:sp>
      <p:sp>
        <p:nvSpPr>
          <p:cNvPr id="301" name="Title"/>
          <p:cNvSpPr txBox="1"/>
          <p:nvPr/>
        </p:nvSpPr>
        <p:spPr>
          <a:xfrm>
            <a:off x="457200" y="685800"/>
            <a:ext cx="8229600" cy="609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3200" b="1" dirty="0">
                <a:solidFill>
                  <a:srgbClr val="002B5C"/>
                </a:solidFill>
              </a:rPr>
              <a:t>Formulación ILP</a:t>
            </a:r>
          </a:p>
        </p:txBody>
      </p:sp>
      <p:sp>
        <p:nvSpPr>
          <p:cNvPr id="302" name="TitleLine"/>
          <p:cNvSpPr/>
          <p:nvPr/>
        </p:nvSpPr>
        <p:spPr>
          <a:xfrm>
            <a:off x="457200" y="1371600"/>
            <a:ext cx="685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3" name="LeftCol"/>
          <p:cNvSpPr txBox="1"/>
          <p:nvPr/>
        </p:nvSpPr>
        <p:spPr>
          <a:xfrm>
            <a:off x="457200" y="1638300"/>
            <a:ext cx="3886200" cy="4419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spcAft>
                <a:spcPts val="200"/>
              </a:spcAft>
              <a:buNone/>
            </a:pPr>
            <a:r>
              <a:rPr lang="es-MX" sz="1200" b="1" spc="150" dirty="0">
                <a:solidFill>
                  <a:srgbClr val="002B5C"/>
                </a:solidFill>
              </a:rPr>
              <a:t>CONJUNTOS Y PARÁMETROS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s-MX" sz="1500" b="1" i="1" dirty="0">
                <a:solidFill>
                  <a:srgbClr val="1A1A1A"/>
                </a:solidFill>
              </a:rPr>
              <a:t>N </a:t>
            </a:r>
            <a:r>
              <a:rPr lang="es-MX" sz="1500" dirty="0">
                <a:solidFill>
                  <a:srgbClr val="1A1A1A"/>
                </a:solidFill>
              </a:rPr>
              <a:t>= {1, …, n} ítems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s-MX" sz="1500" i="1" dirty="0">
                <a:solidFill>
                  <a:srgbClr val="1A1A1A"/>
                </a:solidFill>
              </a:rPr>
              <a:t>wᵢ </a:t>
            </a:r>
            <a:r>
              <a:rPr lang="es-MX" sz="1500" dirty="0">
                <a:solidFill>
                  <a:srgbClr val="1A1A1A"/>
                </a:solidFill>
              </a:rPr>
              <a:t>∈ ℤ⁺ peso del ítem </a:t>
            </a:r>
            <a:r>
              <a:rPr lang="es-MX" sz="1500" i="1" dirty="0">
                <a:solidFill>
                  <a:srgbClr val="1A1A1A"/>
                </a:solidFill>
              </a:rPr>
              <a:t>i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s-MX" sz="1500" i="1" dirty="0">
                <a:solidFill>
                  <a:srgbClr val="1A1A1A"/>
                </a:solidFill>
              </a:rPr>
              <a:t>vᵢ </a:t>
            </a:r>
            <a:r>
              <a:rPr lang="es-MX" sz="1500" dirty="0">
                <a:solidFill>
                  <a:srgbClr val="1A1A1A"/>
                </a:solidFill>
              </a:rPr>
              <a:t>∈ ℤ⁺ valor del ítem </a:t>
            </a:r>
            <a:r>
              <a:rPr lang="es-MX" sz="1500" i="1" dirty="0">
                <a:solidFill>
                  <a:srgbClr val="1A1A1A"/>
                </a:solidFill>
              </a:rPr>
              <a:t>i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s-MX" sz="1500" i="1" dirty="0">
                <a:solidFill>
                  <a:srgbClr val="1A1A1A"/>
                </a:solidFill>
              </a:rPr>
              <a:t>C </a:t>
            </a:r>
            <a:r>
              <a:rPr lang="es-MX" sz="1500" dirty="0">
                <a:solidFill>
                  <a:srgbClr val="1A1A1A"/>
                </a:solidFill>
              </a:rPr>
              <a:t>∈ ℤ⁺ capacidad de la mochila</a:t>
            </a:r>
          </a:p>
          <a:p>
            <a:pPr marL="228600" indent="-228600">
              <a:buFont typeface="Arial"/>
              <a:buChar char="•"/>
            </a:pPr>
            <a:r>
              <a:rPr lang="es-MX" sz="1500" i="1" dirty="0">
                <a:solidFill>
                  <a:srgbClr val="1A1A1A"/>
                </a:solidFill>
              </a:rPr>
              <a:t>K </a:t>
            </a:r>
            <a:r>
              <a:rPr lang="es-MX" sz="1500" dirty="0">
                <a:solidFill>
                  <a:srgbClr val="1A1A1A"/>
                </a:solidFill>
              </a:rPr>
              <a:t>= umbral (sólo versión decisión)</a:t>
            </a:r>
          </a:p>
        </p:txBody>
      </p:sp>
      <p:sp>
        <p:nvSpPr>
          <p:cNvPr id="304" name="ObjCard"/>
          <p:cNvSpPr/>
          <p:nvPr/>
        </p:nvSpPr>
        <p:spPr>
          <a:xfrm>
            <a:off x="4572000" y="1638300"/>
            <a:ext cx="4114800" cy="990600"/>
          </a:xfrm>
          <a:prstGeom prst="roundRect">
            <a:avLst>
              <a:gd name="adj" fmla="val 4000"/>
            </a:avLst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pPr marL="91440">
              <a:spcAft>
                <a:spcPts val="100"/>
              </a:spcAft>
              <a:buNone/>
            </a:pPr>
            <a:r>
              <a:rPr lang="es-MX" sz="1100" b="1" spc="150" dirty="0">
                <a:solidFill>
                  <a:srgbClr val="C8102E"/>
                </a:solidFill>
              </a:rPr>
              <a:t>FUNCIÓN OBJETIVO</a:t>
            </a:r>
          </a:p>
          <a:p>
            <a:pPr marL="91440">
              <a:buNone/>
            </a:pPr>
            <a:r>
              <a:rPr lang="es-MX" sz="1700" b="1" i="1" dirty="0">
                <a:solidFill>
                  <a:srgbClr val="FFFFFF"/>
                </a:solidFill>
              </a:rPr>
              <a:t>max  Z = Σ vᵢ · xᵢ</a:t>
            </a:r>
            <a:r>
              <a:rPr lang="es-MX" sz="1300" dirty="0">
                <a:solidFill>
                  <a:srgbClr val="C0C9D6"/>
                </a:solidFill>
              </a:rPr>
              <a:t>     i ∈ N</a:t>
            </a:r>
          </a:p>
        </p:txBody>
      </p:sp>
      <p:sp>
        <p:nvSpPr>
          <p:cNvPr id="305" name="ConstrCard"/>
          <p:cNvSpPr/>
          <p:nvPr/>
        </p:nvSpPr>
        <p:spPr>
          <a:xfrm>
            <a:off x="4572000" y="2743200"/>
            <a:ext cx="4114800" cy="12192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6350">
            <a:solidFill>
              <a:srgbClr val="C0C9D6"/>
            </a:solidFill>
          </a:ln>
        </p:spPr>
        <p:txBody>
          <a:bodyPr/>
          <a:lstStyle/>
          <a:p>
            <a:pPr marL="91440">
              <a:spcAft>
                <a:spcPts val="100"/>
              </a:spcAft>
              <a:buNone/>
            </a:pPr>
            <a:r>
              <a:rPr lang="es-MX" sz="1100" b="1" spc="150" dirty="0">
                <a:solidFill>
                  <a:srgbClr val="C8102E"/>
                </a:solidFill>
              </a:rPr>
              <a:t>RESTRICCIONES</a:t>
            </a:r>
          </a:p>
          <a:p>
            <a:pPr marL="91440">
              <a:spcAft>
                <a:spcPts val="200"/>
              </a:spcAft>
              <a:buNone/>
            </a:pPr>
            <a:r>
              <a:rPr lang="es-MX" sz="1500" b="1" i="1" dirty="0">
                <a:solidFill>
                  <a:srgbClr val="002B5C"/>
                </a:solidFill>
              </a:rPr>
              <a:t>Σ wᵢ · xᵢ ≤ C</a:t>
            </a:r>
            <a:r>
              <a:rPr lang="es-MX" sz="1300" dirty="0">
                <a:solidFill>
                  <a:srgbClr val="3A4A60"/>
                </a:solidFill>
              </a:rPr>
              <a:t>     (capacidad)</a:t>
            </a:r>
          </a:p>
          <a:p>
            <a:pPr marL="91440">
              <a:buNone/>
            </a:pPr>
            <a:r>
              <a:rPr lang="es-MX" sz="1500" b="1" i="1" dirty="0">
                <a:solidFill>
                  <a:srgbClr val="002B5C"/>
                </a:solidFill>
              </a:rPr>
              <a:t>xᵢ ∈ {0, 1}</a:t>
            </a:r>
            <a:r>
              <a:rPr lang="es-MX" sz="1300" dirty="0">
                <a:solidFill>
                  <a:srgbClr val="3A4A60"/>
                </a:solidFill>
              </a:rPr>
              <a:t>     ∀ i ∈ N  (integridad)</a:t>
            </a:r>
          </a:p>
        </p:txBody>
      </p:sp>
      <p:sp>
        <p:nvSpPr>
          <p:cNvPr id="306" name="DecisionCard"/>
          <p:cNvSpPr/>
          <p:nvPr/>
        </p:nvSpPr>
        <p:spPr>
          <a:xfrm>
            <a:off x="4572000" y="4076700"/>
            <a:ext cx="4114800" cy="198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txBody>
          <a:bodyPr/>
          <a:lstStyle/>
          <a:p>
            <a:pPr marL="91440">
              <a:spcAft>
                <a:spcPts val="100"/>
              </a:spcAft>
              <a:buNone/>
            </a:pPr>
            <a:r>
              <a:rPr lang="es-MX" sz="1100" b="1" spc="150" dirty="0">
                <a:solidFill>
                  <a:srgbClr val="C8102E"/>
                </a:solidFill>
              </a:rPr>
              <a:t>VARIABLE DE DECISIÓN</a:t>
            </a:r>
          </a:p>
          <a:p>
            <a:pPr marL="91440">
              <a:spcAft>
                <a:spcPts val="300"/>
              </a:spcAft>
              <a:buNone/>
            </a:pPr>
            <a:r>
              <a:rPr lang="es-MX" sz="1500" b="1" i="1" dirty="0">
                <a:solidFill>
                  <a:srgbClr val="002B5C"/>
                </a:solidFill>
              </a:rPr>
              <a:t>xᵢ = 1</a:t>
            </a:r>
            <a:r>
              <a:rPr lang="es-MX" sz="1400" dirty="0"/>
              <a:t> si el ítem </a:t>
            </a:r>
            <a:r>
              <a:rPr lang="es-MX" sz="1500" b="1" i="1" dirty="0">
                <a:solidFill>
                  <a:srgbClr val="002B5C"/>
                </a:solidFill>
              </a:rPr>
              <a:t>i</a:t>
            </a:r>
            <a:r>
              <a:rPr lang="es-MX" sz="1400" dirty="0"/>
              <a:t> se incluye, 0 si no</a:t>
            </a:r>
          </a:p>
          <a:p>
            <a:pPr marL="91440">
              <a:spcAft>
                <a:spcPts val="100"/>
              </a:spcAft>
              <a:buNone/>
            </a:pPr>
            <a:r>
              <a:rPr lang="es-MX" sz="1100" b="1" spc="150" dirty="0">
                <a:solidFill>
                  <a:srgbClr val="C8102E"/>
                </a:solidFill>
              </a:rPr>
              <a:t>VERSIÓN DE DECISIÓN (NP-COMPLETA)</a:t>
            </a:r>
          </a:p>
          <a:p>
            <a:pPr marL="91440">
              <a:buNone/>
            </a:pPr>
            <a:r>
              <a:rPr lang="es-MX" sz="1300" dirty="0"/>
              <a:t>¿existe S ⊆ N tal que </a:t>
            </a:r>
            <a:r>
              <a:rPr lang="es-MX" sz="1300" b="1" dirty="0">
                <a:solidFill>
                  <a:srgbClr val="002B5C"/>
                </a:solidFill>
              </a:rPr>
              <a:t>Σ wᵢ ≤ C</a:t>
            </a:r>
            <a:r>
              <a:rPr lang="es-MX" sz="1300" dirty="0"/>
              <a:t> y </a:t>
            </a:r>
            <a:r>
              <a:rPr lang="es-MX" sz="1300" b="1" dirty="0">
                <a:solidFill>
                  <a:srgbClr val="002B5C"/>
                </a:solidFill>
              </a:rPr>
              <a:t>Σ vᵢ ≥ K</a:t>
            </a:r>
            <a:r>
              <a:rPr lang="es-MX" sz="13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2031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yebrow"/>
          <p:cNvSpPr txBox="1"/>
          <p:nvPr/>
        </p:nvSpPr>
        <p:spPr>
          <a:xfrm>
            <a:off x="457200" y="381000"/>
            <a:ext cx="3429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1200" b="1" spc="200" dirty="0">
                <a:solidFill>
                  <a:srgbClr val="C8102E"/>
                </a:solidFill>
              </a:rPr>
              <a:t>03 · COMPLEJIDAD</a:t>
            </a:r>
          </a:p>
        </p:txBody>
      </p:sp>
      <p:sp>
        <p:nvSpPr>
          <p:cNvPr id="301" name="Title"/>
          <p:cNvSpPr txBox="1"/>
          <p:nvPr/>
        </p:nvSpPr>
        <p:spPr>
          <a:xfrm>
            <a:off x="457200" y="685800"/>
            <a:ext cx="8229600" cy="609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3200" b="1" dirty="0">
                <a:solidFill>
                  <a:srgbClr val="002B5C"/>
                </a:solidFill>
              </a:rPr>
              <a:t>¿Por qué Knapsack es NP-completo?</a:t>
            </a:r>
          </a:p>
        </p:txBody>
      </p:sp>
      <p:sp>
        <p:nvSpPr>
          <p:cNvPr id="302" name="TitleLine"/>
          <p:cNvSpPr/>
          <p:nvPr/>
        </p:nvSpPr>
        <p:spPr>
          <a:xfrm>
            <a:off x="457200" y="1371600"/>
            <a:ext cx="685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3" name="NPCard"/>
          <p:cNvSpPr/>
          <p:nvPr/>
        </p:nvSpPr>
        <p:spPr>
          <a:xfrm>
            <a:off x="457200" y="1943100"/>
            <a:ext cx="4114800" cy="10668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6350">
            <a:solidFill>
              <a:srgbClr val="C0C9D6"/>
            </a:solidFill>
          </a:ln>
        </p:spPr>
        <p:txBody>
          <a:bodyPr/>
          <a:lstStyle/>
          <a:p>
            <a:pPr marL="91440">
              <a:spcAft>
                <a:spcPts val="100"/>
              </a:spcAft>
              <a:buNone/>
            </a:pPr>
            <a:r>
              <a:rPr lang="es-MX" sz="1100" b="1" spc="150" dirty="0">
                <a:solidFill>
                  <a:srgbClr val="C8102E"/>
                </a:solidFill>
              </a:rPr>
              <a:t>1.  PERTENENCIA A NP</a:t>
            </a:r>
          </a:p>
          <a:p>
            <a:pPr marL="91440">
              <a:buNone/>
            </a:pPr>
            <a:r>
              <a:rPr lang="es-MX" sz="1300" dirty="0"/>
              <a:t>Dado un certificado </a:t>
            </a:r>
            <a:r>
              <a:rPr lang="es-MX" sz="1300" b="1" i="1" dirty="0">
                <a:solidFill>
                  <a:srgbClr val="002B5C"/>
                </a:solidFill>
              </a:rPr>
              <a:t>S</a:t>
            </a:r>
            <a:r>
              <a:rPr lang="es-MX" sz="1300" dirty="0"/>
              <a:t>, verificar Σwᵢ ≤ C y Σvᵢ ≥ K toma </a:t>
            </a:r>
            <a:r>
              <a:rPr lang="es-MX" sz="1300" b="1" dirty="0">
                <a:solidFill>
                  <a:srgbClr val="C8102E"/>
                </a:solidFill>
              </a:rPr>
              <a:t>O(n)</a:t>
            </a:r>
            <a:r>
              <a:rPr lang="es-MX" sz="1300" dirty="0"/>
              <a:t>.</a:t>
            </a:r>
          </a:p>
        </p:txBody>
      </p:sp>
      <p:sp>
        <p:nvSpPr>
          <p:cNvPr id="304" name="HardnessCard"/>
          <p:cNvSpPr/>
          <p:nvPr/>
        </p:nvSpPr>
        <p:spPr>
          <a:xfrm>
            <a:off x="457200" y="3124200"/>
            <a:ext cx="4114800" cy="1524000"/>
          </a:xfrm>
          <a:prstGeom prst="roundRect">
            <a:avLst>
              <a:gd name="adj" fmla="val 4000"/>
            </a:avLst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pPr marL="91440">
              <a:spcAft>
                <a:spcPts val="100"/>
              </a:spcAft>
              <a:buNone/>
            </a:pPr>
            <a:r>
              <a:rPr lang="es-MX" sz="1100" b="1" spc="150" dirty="0">
                <a:solidFill>
                  <a:srgbClr val="C8102E"/>
                </a:solidFill>
              </a:rPr>
              <a:t>2.  NP-HARDNESS POR REDUCCIÓN</a:t>
            </a:r>
          </a:p>
          <a:p>
            <a:pPr marL="91440" algn="ctr">
              <a:spcAft>
                <a:spcPts val="200"/>
              </a:spcAft>
              <a:buNone/>
            </a:pPr>
            <a:r>
              <a:rPr lang="es-MX" sz="1400" b="1" i="1" dirty="0">
                <a:solidFill>
                  <a:srgbClr val="FFFFFF"/>
                </a:solidFill>
              </a:rPr>
              <a:t>3-SAT  ≤ₚ  Subset Sum  ≤ₚ  Knapsack</a:t>
            </a:r>
          </a:p>
          <a:p>
            <a:pPr marL="91440">
              <a:buNone/>
            </a:pPr>
            <a:r>
              <a:rPr lang="es-MX" sz="1300" dirty="0">
                <a:solidFill>
                  <a:srgbClr val="EEF1F6"/>
                </a:solidFill>
              </a:rPr>
              <a:t>Subset Sum → Knapsack: tomar </a:t>
            </a:r>
            <a:r>
              <a:rPr lang="es-MX" sz="1300" b="1" i="1" dirty="0">
                <a:solidFill>
                  <a:srgbClr val="FFFFFF"/>
                </a:solidFill>
              </a:rPr>
              <a:t>wᵢ = vᵢ = aᵢ</a:t>
            </a:r>
            <a:r>
              <a:rPr lang="es-MX" sz="1300" dirty="0">
                <a:solidFill>
                  <a:srgbClr val="EEF1F6"/>
                </a:solidFill>
              </a:rPr>
              <a:t>, </a:t>
            </a:r>
            <a:r>
              <a:rPr lang="es-MX" sz="1300" b="1" i="1" dirty="0">
                <a:solidFill>
                  <a:srgbClr val="FFFFFF"/>
                </a:solidFill>
              </a:rPr>
              <a:t>C = K = T</a:t>
            </a:r>
            <a:r>
              <a:rPr lang="es-MX" sz="1300" dirty="0">
                <a:solidFill>
                  <a:srgbClr val="EEF1F6"/>
                </a:solidFill>
              </a:rPr>
              <a:t>. Reducción O(n).</a:t>
            </a:r>
          </a:p>
        </p:txBody>
      </p:sp>
      <p:sp>
        <p:nvSpPr>
          <p:cNvPr id="305" name="PseudoCard"/>
          <p:cNvSpPr/>
          <p:nvPr/>
        </p:nvSpPr>
        <p:spPr>
          <a:xfrm>
            <a:off x="457200" y="4762500"/>
            <a:ext cx="4114800" cy="1028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txBody>
          <a:bodyPr/>
          <a:lstStyle/>
          <a:p>
            <a:pPr marL="91440">
              <a:spcAft>
                <a:spcPts val="100"/>
              </a:spcAft>
              <a:buNone/>
            </a:pPr>
            <a:r>
              <a:rPr lang="es-MX" sz="1100" b="1" spc="150" dirty="0">
                <a:solidFill>
                  <a:srgbClr val="C8102E"/>
                </a:solidFill>
              </a:rPr>
              <a:t>3.  PSEUDO-POLINOMIALIDAD</a:t>
            </a:r>
          </a:p>
          <a:p>
            <a:pPr marL="91440">
              <a:spcAft>
                <a:spcPts val="200"/>
              </a:spcAft>
              <a:buNone/>
            </a:pPr>
            <a:r>
              <a:rPr lang="es-MX" sz="1300" dirty="0"/>
              <a:t>La PD corre en </a:t>
            </a:r>
            <a:r>
              <a:rPr lang="es-MX" sz="1300" b="1" dirty="0">
                <a:solidFill>
                  <a:srgbClr val="002B5C"/>
                </a:solidFill>
              </a:rPr>
              <a:t>O(n·C)</a:t>
            </a:r>
            <a:r>
              <a:rPr lang="es-MX" sz="1300" dirty="0"/>
              <a:t>, pero </a:t>
            </a:r>
            <a:r>
              <a:rPr lang="es-MX" sz="1300" i="1" dirty="0">
                <a:solidFill>
                  <a:srgbClr val="002B5C"/>
                </a:solidFill>
              </a:rPr>
              <a:t>C</a:t>
            </a:r>
            <a:r>
              <a:rPr lang="es-MX" sz="1300" dirty="0"/>
              <a:t> puede ser exponencial en su representación binaria.</a:t>
            </a:r>
          </a:p>
          <a:p>
            <a:pPr marL="91440">
              <a:buNone/>
            </a:pPr>
            <a:r>
              <a:rPr lang="es-MX" sz="1300" dirty="0"/>
              <a:t>Por eso Knapsack es </a:t>
            </a:r>
            <a:r>
              <a:rPr lang="es-MX" sz="1300" b="1" dirty="0">
                <a:solidFill>
                  <a:srgbClr val="C8102E"/>
                </a:solidFill>
              </a:rPr>
              <a:t>NP-completo en sentido débil</a:t>
            </a:r>
            <a:r>
              <a:rPr lang="es-MX" sz="1300" dirty="0"/>
              <a:t>.</a:t>
            </a:r>
          </a:p>
        </p:txBody>
      </p:sp>
      <p:sp>
        <p:nvSpPr>
          <p:cNvPr id="306" name="TableHeader"/>
          <p:cNvSpPr txBox="1"/>
          <p:nvPr/>
        </p:nvSpPr>
        <p:spPr>
          <a:xfrm>
            <a:off x="4800600" y="1638300"/>
            <a:ext cx="38862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1200" b="1" spc="150" dirty="0">
                <a:solidFill>
                  <a:srgbClr val="002B5C"/>
                </a:solidFill>
              </a:rPr>
              <a:t>PROBLEMAS RELACIONADOS</a:t>
            </a:r>
          </a:p>
        </p:txBody>
      </p:sp>
      <p:graphicFrame>
        <p:nvGraphicFramePr>
          <p:cNvPr id="3" name="RelatedTable">
            <a:extLst>
              <a:ext uri="{FF2B5EF4-FFF2-40B4-BE49-F238E27FC236}">
                <a16:creationId xmlns:a16="http://schemas.microsoft.com/office/drawing/2014/main" id="{73663068-E64C-D044-8232-89DB7C35D017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968500"/>
          <a:ext cx="3911601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867">
                  <a:extLst>
                    <a:ext uri="{9D8B030D-6E8A-4147-A177-3AD203B41FA5}">
                      <a16:colId xmlns:a16="http://schemas.microsoft.com/office/drawing/2014/main" val="691183"/>
                    </a:ext>
                  </a:extLst>
                </a:gridCol>
                <a:gridCol w="1303867">
                  <a:extLst>
                    <a:ext uri="{9D8B030D-6E8A-4147-A177-3AD203B41FA5}">
                      <a16:colId xmlns:a16="http://schemas.microsoft.com/office/drawing/2014/main" val="2529991738"/>
                    </a:ext>
                  </a:extLst>
                </a:gridCol>
                <a:gridCol w="1303867">
                  <a:extLst>
                    <a:ext uri="{9D8B030D-6E8A-4147-A177-3AD203B41FA5}">
                      <a16:colId xmlns:a16="http://schemas.microsoft.com/office/drawing/2014/main" val="285936698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s-CL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Problema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Relación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Compl.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59005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Subset Sum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wᵢ = vᵢ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>
                          <a:solidFill>
                            <a:srgbClr val="C8102E"/>
                          </a:solidFill>
                          <a:latin typeface="Calibri"/>
                          <a:cs typeface="Calibri"/>
                        </a:rPr>
                        <a:t>NP-C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70608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Partition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caso especial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>
                          <a:solidFill>
                            <a:srgbClr val="C8102E"/>
                          </a:solidFill>
                          <a:latin typeface="Calibri"/>
                          <a:cs typeface="Calibri"/>
                        </a:rPr>
                        <a:t>NP-C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16616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Fractional Knapsack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versión relajada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>
                          <a:solidFill>
                            <a:srgbClr val="196B24"/>
                          </a:solidFill>
                          <a:latin typeface="Calibri"/>
                          <a:cs typeface="Calibri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71539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0-1 ILP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generaliza KS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300" b="1">
                          <a:solidFill>
                            <a:srgbClr val="C8102E"/>
                          </a:solidFill>
                          <a:latin typeface="Calibri"/>
                          <a:cs typeface="Calibri"/>
                        </a:rPr>
                        <a:t>NP-C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218054"/>
                  </a:ext>
                </a:extLst>
              </a:tr>
            </a:tbl>
          </a:graphicData>
        </a:graphic>
      </p:graphicFrame>
      <p:sp>
        <p:nvSpPr>
          <p:cNvPr id="4" name="ConclBox">
            <a:extLst>
              <a:ext uri="{FF2B5EF4-FFF2-40B4-BE49-F238E27FC236}">
                <a16:creationId xmlns:a16="http://schemas.microsoft.com/office/drawing/2014/main" id="{2BE35581-BB2A-CF4B-B614-94F80DC1FB18}"/>
              </a:ext>
            </a:extLst>
          </p:cNvPr>
          <p:cNvSpPr/>
          <p:nvPr/>
        </p:nvSpPr>
        <p:spPr>
          <a:xfrm>
            <a:off x="4800600" y="5486400"/>
            <a:ext cx="3911600" cy="57150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s-MX" sz="1300" i="1" dirty="0">
                <a:solidFill>
                  <a:srgbClr val="3A4A60"/>
                </a:solidFill>
              </a:rPr>
              <a:t>“NP-completo débil” = existe algoritmo </a:t>
            </a:r>
            <a:r>
              <a:rPr lang="es-MX" sz="1300" b="1" i="1" dirty="0">
                <a:solidFill>
                  <a:srgbClr val="002B5C"/>
                </a:solidFill>
              </a:rPr>
              <a:t>pseudo-polinomial</a:t>
            </a:r>
            <a:r>
              <a:rPr lang="es-MX" sz="1300" i="1" dirty="0">
                <a:solidFill>
                  <a:srgbClr val="3A4A60"/>
                </a:solidFill>
              </a:rPr>
              <a:t>, no polinomial real.</a:t>
            </a:r>
          </a:p>
        </p:txBody>
      </p:sp>
    </p:spTree>
    <p:extLst>
      <p:ext uri="{BB962C8B-B14F-4D97-AF65-F5344CB8AC3E}">
        <p14:creationId xmlns:p14="http://schemas.microsoft.com/office/powerpoint/2010/main" val="3292566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yebrow"/>
          <p:cNvSpPr txBox="1"/>
          <p:nvPr/>
        </p:nvSpPr>
        <p:spPr>
          <a:xfrm>
            <a:off x="457200" y="381000"/>
            <a:ext cx="3429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1200" b="1" spc="200" dirty="0">
                <a:solidFill>
                  <a:srgbClr val="C8102E"/>
                </a:solidFill>
              </a:rPr>
              <a:t>04 · IMPLEMENTACIÓN</a:t>
            </a:r>
          </a:p>
        </p:txBody>
      </p:sp>
      <p:sp>
        <p:nvSpPr>
          <p:cNvPr id="301" name="Title"/>
          <p:cNvSpPr txBox="1"/>
          <p:nvPr/>
        </p:nvSpPr>
        <p:spPr>
          <a:xfrm>
            <a:off x="457200" y="685800"/>
            <a:ext cx="8229600" cy="609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3200" b="1" dirty="0">
                <a:solidFill>
                  <a:srgbClr val="002B5C"/>
                </a:solidFill>
              </a:rPr>
              <a:t>Dos enfoques × tres lenguajes</a:t>
            </a:r>
          </a:p>
        </p:txBody>
      </p:sp>
      <p:sp>
        <p:nvSpPr>
          <p:cNvPr id="302" name="TitleLine"/>
          <p:cNvSpPr/>
          <p:nvPr/>
        </p:nvSpPr>
        <p:spPr>
          <a:xfrm>
            <a:off x="457200" y="1371600"/>
            <a:ext cx="685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3" name="FBCard"/>
          <p:cNvSpPr/>
          <p:nvPr/>
        </p:nvSpPr>
        <p:spPr>
          <a:xfrm>
            <a:off x="457200" y="1638300"/>
            <a:ext cx="3962400" cy="3429000"/>
          </a:xfrm>
          <a:prstGeom prst="roundRect">
            <a:avLst>
              <a:gd name="adj" fmla="val 3000"/>
            </a:avLst>
          </a:prstGeom>
          <a:solidFill>
            <a:srgbClr val="EEF1F6"/>
          </a:solidFill>
          <a:ln w="6350">
            <a:solidFill>
              <a:srgbClr val="C0C9D6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04" name="FBHeader"/>
          <p:cNvSpPr txBox="1"/>
          <p:nvPr/>
        </p:nvSpPr>
        <p:spPr>
          <a:xfrm>
            <a:off x="685800" y="1828800"/>
            <a:ext cx="3505200" cy="8001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spcAft>
                <a:spcPts val="100"/>
              </a:spcAft>
              <a:buNone/>
            </a:pPr>
            <a:r>
              <a:rPr lang="es-MX" sz="1100" b="1" spc="200" dirty="0">
                <a:solidFill>
                  <a:srgbClr val="5B7A99"/>
                </a:solidFill>
              </a:rPr>
              <a:t>ENFOQUE A · BASE</a:t>
            </a:r>
          </a:p>
          <a:p>
            <a:pPr>
              <a:spcAft>
                <a:spcPts val="100"/>
              </a:spcAft>
              <a:buNone/>
            </a:pPr>
            <a:r>
              <a:rPr lang="es-MX" sz="2400" b="1" dirty="0">
                <a:solidFill>
                  <a:srgbClr val="002B5C"/>
                </a:solidFill>
              </a:rPr>
              <a:t>Fuerza Bruta</a:t>
            </a:r>
          </a:p>
          <a:p>
            <a:pPr>
              <a:buNone/>
            </a:pPr>
            <a:r>
              <a:rPr lang="es-MX" sz="1500" i="1" dirty="0">
                <a:solidFill>
                  <a:srgbClr val="3A4A60"/>
                </a:solidFill>
              </a:rPr>
              <a:t>Backtracking recursivo</a:t>
            </a:r>
          </a:p>
        </p:txBody>
      </p:sp>
      <p:sp>
        <p:nvSpPr>
          <p:cNvPr id="305" name="FBBody"/>
          <p:cNvSpPr txBox="1"/>
          <p:nvPr/>
        </p:nvSpPr>
        <p:spPr>
          <a:xfrm>
            <a:off x="685800" y="2705100"/>
            <a:ext cx="350520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s-MX" sz="1500" dirty="0"/>
              <a:t>Para cada ítem: ramificar incluir / no incluir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s-MX" sz="1500" dirty="0"/>
              <a:t>Explora los </a:t>
            </a:r>
            <a:r>
              <a:rPr lang="es-MX" sz="1500" b="1" dirty="0">
                <a:solidFill>
                  <a:srgbClr val="C8102E"/>
                </a:solidFill>
              </a:rPr>
              <a:t>2ⁿ</a:t>
            </a:r>
            <a:r>
              <a:rPr lang="es-MX" sz="1500" dirty="0"/>
              <a:t> subconjuntos posibles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s-MX" sz="1500" dirty="0"/>
              <a:t>Garantiza el óptimo, escala terriblemente</a:t>
            </a:r>
          </a:p>
          <a:p>
            <a:pPr>
              <a:spcBef>
                <a:spcPts val="500"/>
              </a:spcBef>
              <a:buNone/>
            </a:pPr>
            <a:r>
              <a:rPr lang="es-MX" sz="1300" b="1" spc="150" dirty="0">
                <a:solidFill>
                  <a:srgbClr val="5B7A99"/>
                </a:solidFill>
              </a:rPr>
              <a:t>COMPLEJIDAD</a:t>
            </a:r>
          </a:p>
          <a:p>
            <a:pPr>
              <a:buNone/>
            </a:pPr>
            <a:r>
              <a:rPr lang="es-MX" sz="2400" b="1" dirty="0">
                <a:solidFill>
                  <a:srgbClr val="C8102E"/>
                </a:solidFill>
              </a:rPr>
              <a:t>O(2ⁿ)</a:t>
            </a:r>
            <a:r>
              <a:rPr lang="es-MX" sz="1400" dirty="0">
                <a:solidFill>
                  <a:srgbClr val="3A4A60"/>
                </a:solidFill>
              </a:rPr>
              <a:t>   exponencial</a:t>
            </a:r>
          </a:p>
        </p:txBody>
      </p:sp>
      <p:sp>
        <p:nvSpPr>
          <p:cNvPr id="306" name="PDCard"/>
          <p:cNvSpPr/>
          <p:nvPr/>
        </p:nvSpPr>
        <p:spPr>
          <a:xfrm>
            <a:off x="4724400" y="1638300"/>
            <a:ext cx="3962400" cy="3429000"/>
          </a:xfrm>
          <a:prstGeom prst="roundRect">
            <a:avLst>
              <a:gd name="adj" fmla="val 3000"/>
            </a:avLst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7" name="PDHeader"/>
          <p:cNvSpPr txBox="1"/>
          <p:nvPr/>
        </p:nvSpPr>
        <p:spPr>
          <a:xfrm>
            <a:off x="4953000" y="1828800"/>
            <a:ext cx="3505200" cy="8001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spcAft>
                <a:spcPts val="100"/>
              </a:spcAft>
              <a:buNone/>
            </a:pPr>
            <a:r>
              <a:rPr lang="es-MX" sz="1100" b="1" spc="200" dirty="0">
                <a:solidFill>
                  <a:srgbClr val="C8102E"/>
                </a:solidFill>
              </a:rPr>
              <a:t>ENFOQUE B · MEJORADO</a:t>
            </a:r>
          </a:p>
          <a:p>
            <a:pPr>
              <a:spcAft>
                <a:spcPts val="100"/>
              </a:spcAft>
              <a:buNone/>
            </a:pPr>
            <a:r>
              <a:rPr lang="es-MX" sz="2400" b="1" dirty="0">
                <a:solidFill>
                  <a:srgbClr val="FFFFFF"/>
                </a:solidFill>
              </a:rPr>
              <a:t>Programación Dinámica</a:t>
            </a:r>
          </a:p>
          <a:p>
            <a:pPr>
              <a:buNone/>
            </a:pPr>
            <a:r>
              <a:rPr lang="es-MX" sz="1500" i="1" dirty="0">
                <a:solidFill>
                  <a:srgbClr val="C0C9D6"/>
                </a:solidFill>
              </a:rPr>
              <a:t>Bottom-up con tabla (n+1)×(C+1)</a:t>
            </a:r>
          </a:p>
        </p:txBody>
      </p:sp>
      <p:sp>
        <p:nvSpPr>
          <p:cNvPr id="308" name="PDBody"/>
          <p:cNvSpPr txBox="1"/>
          <p:nvPr/>
        </p:nvSpPr>
        <p:spPr>
          <a:xfrm>
            <a:off x="4953000" y="2705100"/>
            <a:ext cx="350520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spcAft>
                <a:spcPts val="200"/>
              </a:spcAft>
              <a:buNone/>
            </a:pPr>
            <a:r>
              <a:rPr lang="es-MX" sz="1300" b="1" spc="150" dirty="0">
                <a:solidFill>
                  <a:srgbClr val="C8102E"/>
                </a:solidFill>
              </a:rPr>
              <a:t>RECURRENCIA</a:t>
            </a:r>
          </a:p>
          <a:p>
            <a:pPr>
              <a:spcAft>
                <a:spcPts val="400"/>
              </a:spcAft>
              <a:buNone/>
            </a:pPr>
            <a:r>
              <a:rPr lang="es-MX" sz="1500" b="1" i="1" dirty="0">
                <a:solidFill>
                  <a:srgbClr val="FFFFFF"/>
                </a:solidFill>
              </a:rPr>
              <a:t>dp[i][c] = max( dp[i-1][c],  dp[i-1][c-wᵢ] + vᵢ )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s-MX" sz="1400" dirty="0">
                <a:solidFill>
                  <a:srgbClr val="EEF1F6"/>
                </a:solidFill>
              </a:rPr>
              <a:t>Reconstrucción del óptimo por backtracking sobre la tabla</a:t>
            </a:r>
          </a:p>
          <a:p>
            <a:pPr>
              <a:spcBef>
                <a:spcPts val="400"/>
              </a:spcBef>
              <a:buNone/>
            </a:pPr>
            <a:r>
              <a:rPr lang="es-MX" sz="1300" b="1" spc="150" dirty="0">
                <a:solidFill>
                  <a:srgbClr val="C8102E"/>
                </a:solidFill>
              </a:rPr>
              <a:t>COMPLEJIDAD</a:t>
            </a:r>
          </a:p>
          <a:p>
            <a:pPr>
              <a:buNone/>
            </a:pPr>
            <a:r>
              <a:rPr lang="es-MX" sz="2400" b="1" dirty="0">
                <a:solidFill>
                  <a:srgbClr val="FFFFFF"/>
                </a:solidFill>
              </a:rPr>
              <a:t>O(n·C)</a:t>
            </a:r>
            <a:r>
              <a:rPr lang="es-MX" sz="1400" dirty="0">
                <a:solidFill>
                  <a:srgbClr val="C0C9D6"/>
                </a:solidFill>
              </a:rPr>
              <a:t>   pseudo-polinomial</a:t>
            </a:r>
          </a:p>
        </p:txBody>
      </p:sp>
      <p:sp>
        <p:nvSpPr>
          <p:cNvPr id="309" name="DecisionsBar"/>
          <p:cNvSpPr/>
          <p:nvPr/>
        </p:nvSpPr>
        <p:spPr>
          <a:xfrm>
            <a:off x="457200" y="5181600"/>
            <a:ext cx="82296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txBody>
          <a:bodyPr anchor="ctr"/>
          <a:lstStyle/>
          <a:p>
            <a:pPr>
              <a:spcAft>
                <a:spcPts val="100"/>
              </a:spcAft>
              <a:buNone/>
            </a:pPr>
            <a:r>
              <a:rPr lang="es-MX" sz="1200" b="1" spc="150" dirty="0">
                <a:solidFill>
                  <a:srgbClr val="C8102E"/>
                </a:solidFill>
              </a:rPr>
              <a:t>DECISIONES DE IMPLEMENTACIÓN</a:t>
            </a:r>
          </a:p>
          <a:p>
            <a:pPr>
              <a:buNone/>
            </a:pPr>
            <a:r>
              <a:rPr lang="es-MX" sz="1400" dirty="0">
                <a:solidFill>
                  <a:srgbClr val="1A1A1A"/>
                </a:solidFill>
              </a:rPr>
              <a:t>Misma instancia (</a:t>
            </a:r>
            <a:r>
              <a:rPr lang="es-MX" sz="1400" b="1" dirty="0">
                <a:solidFill>
                  <a:srgbClr val="002B5C"/>
                </a:solidFill>
              </a:rPr>
              <a:t>n=20, C=50</a:t>
            </a:r>
            <a:r>
              <a:rPr lang="es-MX" sz="1400" dirty="0">
                <a:solidFill>
                  <a:srgbClr val="1A1A1A"/>
                </a:solidFill>
              </a:rPr>
              <a:t>) en los 3 lenguajes  ·  sin librerías que resuelvan el problema  ·  promedio de </a:t>
            </a:r>
            <a:r>
              <a:rPr lang="es-MX" sz="1400" b="1" dirty="0">
                <a:solidFill>
                  <a:srgbClr val="002B5C"/>
                </a:solidFill>
              </a:rPr>
              <a:t>3 ejecuciones</a:t>
            </a:r>
            <a:r>
              <a:rPr lang="es-MX" sz="1400" dirty="0">
                <a:solidFill>
                  <a:srgbClr val="1A1A1A"/>
                </a:solidFill>
              </a:rPr>
              <a:t> por configuración  ·  </a:t>
            </a:r>
            <a:r>
              <a:rPr lang="es-MX" sz="1400" b="1" dirty="0">
                <a:solidFill>
                  <a:srgbClr val="002B5C"/>
                </a:solidFill>
              </a:rPr>
              <a:t>Python · C++ · Java</a:t>
            </a:r>
          </a:p>
        </p:txBody>
      </p:sp>
    </p:spTree>
    <p:extLst>
      <p:ext uri="{BB962C8B-B14F-4D97-AF65-F5344CB8AC3E}">
        <p14:creationId xmlns:p14="http://schemas.microsoft.com/office/powerpoint/2010/main" val="1730367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yebrow"/>
          <p:cNvSpPr txBox="1"/>
          <p:nvPr/>
        </p:nvSpPr>
        <p:spPr>
          <a:xfrm>
            <a:off x="457200" y="381000"/>
            <a:ext cx="3429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1200" b="1" spc="200" dirty="0">
                <a:solidFill>
                  <a:srgbClr val="C8102E"/>
                </a:solidFill>
              </a:rPr>
              <a:t>05 · RESULTADOS</a:t>
            </a:r>
          </a:p>
        </p:txBody>
      </p:sp>
      <p:sp>
        <p:nvSpPr>
          <p:cNvPr id="301" name="Title"/>
          <p:cNvSpPr txBox="1"/>
          <p:nvPr/>
        </p:nvSpPr>
        <p:spPr>
          <a:xfrm>
            <a:off x="457200" y="685800"/>
            <a:ext cx="8229600" cy="609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2800" b="1" dirty="0">
                <a:solidFill>
                  <a:srgbClr val="002B5C"/>
                </a:solidFill>
              </a:rPr>
              <a:t>¿Algoritmo o lenguaje?</a:t>
            </a:r>
          </a:p>
        </p:txBody>
      </p:sp>
      <p:sp>
        <p:nvSpPr>
          <p:cNvPr id="302" name="TitleLine"/>
          <p:cNvSpPr/>
          <p:nvPr/>
        </p:nvSpPr>
        <p:spPr>
          <a:xfrm>
            <a:off x="457200" y="1371600"/>
            <a:ext cx="685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3" name="InstanceBar"/>
          <p:cNvSpPr/>
          <p:nvPr/>
        </p:nvSpPr>
        <p:spPr>
          <a:xfrm>
            <a:off x="457200" y="1638300"/>
            <a:ext cx="8823068" cy="344249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6350">
            <a:solidFill>
              <a:srgbClr val="C0C9D6"/>
            </a:solidFill>
          </a:ln>
        </p:spPr>
        <p:txBody>
          <a:bodyPr/>
          <a:lstStyle/>
          <a:p>
            <a:pPr algn="ctr">
              <a:buNone/>
            </a:pPr>
            <a:r>
              <a:rPr lang="es-MX" sz="1300" b="1" spc="150" dirty="0">
                <a:solidFill>
                  <a:srgbClr val="5B7A99"/>
                </a:solidFill>
              </a:rPr>
              <a:t>INSTANCIA  </a:t>
            </a:r>
            <a:r>
              <a:rPr lang="es-MX" sz="1500" dirty="0">
                <a:solidFill>
                  <a:srgbClr val="1A1A1A"/>
                </a:solidFill>
              </a:rPr>
              <a:t>n=20, C=50, pesos [1–8], valores [3–9]    </a:t>
            </a:r>
            <a:r>
              <a:rPr lang="es-MX" sz="1300" b="1" spc="150" dirty="0">
                <a:solidFill>
                  <a:srgbClr val="C8102E"/>
                </a:solidFill>
              </a:rPr>
              <a:t>·  ÓPTIMO   </a:t>
            </a:r>
            <a:r>
              <a:rPr lang="es-MX" sz="1500" b="1" dirty="0">
                <a:solidFill>
                  <a:srgbClr val="002B5C"/>
                </a:solidFill>
              </a:rPr>
              <a:t>Z = $90</a:t>
            </a:r>
            <a:r>
              <a:rPr lang="es-MX" sz="1500" dirty="0">
                <a:solidFill>
                  <a:srgbClr val="1A1A1A"/>
                </a:solidFill>
              </a:rPr>
              <a:t>, 14 ítems, peso 50/50</a:t>
            </a:r>
          </a:p>
        </p:txBody>
      </p:sp>
      <p:graphicFrame>
        <p:nvGraphicFramePr>
          <p:cNvPr id="500" name="ResultsChart"/>
          <p:cNvGraphicFramePr/>
          <p:nvPr/>
        </p:nvGraphicFramePr>
        <p:xfrm>
          <a:off x="304800" y="2286000"/>
          <a:ext cx="4953000" cy="37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SpeedupTable">
            <a:extLst>
              <a:ext uri="{FF2B5EF4-FFF2-40B4-BE49-F238E27FC236}">
                <a16:creationId xmlns:a16="http://schemas.microsoft.com/office/drawing/2014/main" id="{38FE1CF7-3DFC-2B48-8691-4E7FEC7EC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413896"/>
              </p:ext>
            </p:extLst>
          </p:nvPr>
        </p:nvGraphicFramePr>
        <p:xfrm>
          <a:off x="5851268" y="2476500"/>
          <a:ext cx="3598333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425614759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424726814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4204886918"/>
                    </a:ext>
                  </a:extLst>
                </a:gridCol>
                <a:gridCol w="1026583">
                  <a:extLst>
                    <a:ext uri="{9D8B030D-6E8A-4147-A177-3AD203B41FA5}">
                      <a16:colId xmlns:a16="http://schemas.microsoft.com/office/drawing/2014/main" val="2502823315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s-CL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Lenguaje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FB (ms)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PD (ms)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aceleración</a:t>
                      </a:r>
                      <a:endParaRPr lang="es-CL" sz="1200" b="1" err="1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53200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s-CL" sz="12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Python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182.65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 b="1">
                          <a:solidFill>
                            <a:srgbClr val="C8102E"/>
                          </a:solidFill>
                          <a:latin typeface="Calibri"/>
                          <a:cs typeface="Calibri"/>
                        </a:rPr>
                        <a:t>996×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50355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s-CL" sz="12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C++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11.75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 b="1">
                          <a:solidFill>
                            <a:srgbClr val="C8102E"/>
                          </a:solidFill>
                          <a:latin typeface="Calibri"/>
                          <a:cs typeface="Calibri"/>
                        </a:rPr>
                        <a:t>219×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458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s-CL" sz="12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Java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49.29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200" b="1" dirty="0">
                          <a:solidFill>
                            <a:srgbClr val="C8102E"/>
                          </a:solidFill>
                          <a:latin typeface="Calibri"/>
                          <a:cs typeface="Calibri"/>
                        </a:rPr>
                        <a:t>706×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033954"/>
                  </a:ext>
                </a:extLst>
              </a:tr>
            </a:tbl>
          </a:graphicData>
        </a:graphic>
      </p:graphicFrame>
      <p:sp>
        <p:nvSpPr>
          <p:cNvPr id="4" name="ProjCard">
            <a:extLst>
              <a:ext uri="{FF2B5EF4-FFF2-40B4-BE49-F238E27FC236}">
                <a16:creationId xmlns:a16="http://schemas.microsoft.com/office/drawing/2014/main" id="{BE8D7342-1210-C748-A3BE-BBDBA7465C9F}"/>
              </a:ext>
            </a:extLst>
          </p:cNvPr>
          <p:cNvSpPr/>
          <p:nvPr/>
        </p:nvSpPr>
        <p:spPr>
          <a:xfrm>
            <a:off x="5851268" y="4318000"/>
            <a:ext cx="3429000" cy="1275492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C810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91440" marR="91440">
              <a:spcAft>
                <a:spcPts val="300"/>
              </a:spcAft>
              <a:buNone/>
            </a:pPr>
            <a:r>
              <a:rPr lang="es-MX" sz="1100" b="1" spc="150" dirty="0">
                <a:solidFill>
                  <a:srgbClr val="C8102E"/>
                </a:solidFill>
              </a:rPr>
              <a:t>PROYECCIÓN DE ESCALABILIDAD</a:t>
            </a:r>
          </a:p>
          <a:p>
            <a:pPr marL="91440" marR="91440">
              <a:spcAft>
                <a:spcPts val="200"/>
              </a:spcAft>
              <a:buNone/>
            </a:pPr>
            <a:r>
              <a:rPr lang="es-MX" sz="1300" b="1" dirty="0">
                <a:solidFill>
                  <a:srgbClr val="002B5C"/>
                </a:solidFill>
              </a:rPr>
              <a:t>n = 30  </a:t>
            </a:r>
            <a:r>
              <a:rPr lang="es-MX" sz="1200" dirty="0">
                <a:solidFill>
                  <a:srgbClr val="1A1A1A"/>
                </a:solidFill>
              </a:rPr>
              <a:t>FB Py ≈ 3 min · </a:t>
            </a:r>
            <a:r>
              <a:rPr lang="es-MX" sz="1200" b="1" dirty="0">
                <a:solidFill>
                  <a:srgbClr val="196B24"/>
                </a:solidFill>
              </a:rPr>
              <a:t>PD &lt; 0.5 ms</a:t>
            </a:r>
          </a:p>
          <a:p>
            <a:pPr marL="91440" marR="91440">
              <a:spcAft>
                <a:spcPts val="300"/>
              </a:spcAft>
              <a:buNone/>
            </a:pPr>
            <a:r>
              <a:rPr lang="es-MX" sz="1300" b="1" dirty="0">
                <a:solidFill>
                  <a:srgbClr val="002B5C"/>
                </a:solidFill>
              </a:rPr>
              <a:t>n = 40  </a:t>
            </a:r>
            <a:r>
              <a:rPr lang="es-MX" sz="1200" dirty="0">
                <a:solidFill>
                  <a:srgbClr val="1A1A1A"/>
                </a:solidFill>
              </a:rPr>
              <a:t>FB  Py &gt;50 h · </a:t>
            </a:r>
            <a:r>
              <a:rPr lang="es-MX" sz="1200" b="1" dirty="0">
                <a:solidFill>
                  <a:srgbClr val="196B24"/>
                </a:solidFill>
              </a:rPr>
              <a:t>PD ~ 1 ms</a:t>
            </a:r>
          </a:p>
          <a:p>
            <a:pPr marL="91440" marR="91440">
              <a:spcAft>
                <a:spcPts val="300"/>
              </a:spcAft>
              <a:buNone/>
            </a:pPr>
            <a:endParaRPr lang="es-MX" sz="1200" b="1" dirty="0">
              <a:solidFill>
                <a:srgbClr val="196B24"/>
              </a:solidFill>
            </a:endParaRPr>
          </a:p>
          <a:p>
            <a:pPr marL="91440" marR="91440" algn="ctr">
              <a:buNone/>
            </a:pPr>
            <a:r>
              <a:rPr lang="es-MX" sz="1100" i="1" dirty="0">
                <a:solidFill>
                  <a:srgbClr val="3A4A60"/>
                </a:solidFill>
              </a:rPr>
              <a:t>Algoritmo: 200–1000×  ·  Lenguaje: 10–15×</a:t>
            </a:r>
          </a:p>
        </p:txBody>
      </p:sp>
    </p:spTree>
    <p:extLst>
      <p:ext uri="{BB962C8B-B14F-4D97-AF65-F5344CB8AC3E}">
        <p14:creationId xmlns:p14="http://schemas.microsoft.com/office/powerpoint/2010/main" val="951841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yebrow"/>
          <p:cNvSpPr txBox="1"/>
          <p:nvPr/>
        </p:nvSpPr>
        <p:spPr>
          <a:xfrm>
            <a:off x="457200" y="381000"/>
            <a:ext cx="3429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1200" b="1" spc="200" dirty="0">
                <a:solidFill>
                  <a:srgbClr val="C8102E"/>
                </a:solidFill>
              </a:rPr>
              <a:t>06 · CONCLUSIONES</a:t>
            </a:r>
          </a:p>
        </p:txBody>
      </p:sp>
      <p:sp>
        <p:nvSpPr>
          <p:cNvPr id="301" name="Title"/>
          <p:cNvSpPr txBox="1"/>
          <p:nvPr/>
        </p:nvSpPr>
        <p:spPr>
          <a:xfrm>
            <a:off x="457200" y="685800"/>
            <a:ext cx="8229600" cy="609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3200" b="1" dirty="0">
                <a:solidFill>
                  <a:srgbClr val="002B5C"/>
                </a:solidFill>
              </a:rPr>
              <a:t>¿Qué nos llevamos de este trabajo?</a:t>
            </a:r>
          </a:p>
        </p:txBody>
      </p:sp>
      <p:sp>
        <p:nvSpPr>
          <p:cNvPr id="302" name="TitleLine"/>
          <p:cNvSpPr/>
          <p:nvPr/>
        </p:nvSpPr>
        <p:spPr>
          <a:xfrm>
            <a:off x="457200" y="1371600"/>
            <a:ext cx="685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3" name="Card01"/>
          <p:cNvSpPr/>
          <p:nvPr/>
        </p:nvSpPr>
        <p:spPr>
          <a:xfrm>
            <a:off x="457200" y="1638300"/>
            <a:ext cx="2667000" cy="20574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6350">
            <a:solidFill>
              <a:srgbClr val="C0C9D6"/>
            </a:solidFill>
          </a:ln>
        </p:spPr>
        <p:txBody>
          <a:bodyPr/>
          <a:lstStyle/>
          <a:p>
            <a:pPr>
              <a:spcAft>
                <a:spcPts val="200"/>
              </a:spcAft>
              <a:buNone/>
            </a:pPr>
            <a:r>
              <a:rPr lang="es-MX" sz="3200" b="1" dirty="0">
                <a:solidFill>
                  <a:srgbClr val="C8102E"/>
                </a:solidFill>
              </a:rPr>
              <a:t>01</a:t>
            </a:r>
          </a:p>
          <a:p>
            <a:pPr>
              <a:spcAft>
                <a:spcPts val="200"/>
              </a:spcAft>
              <a:buNone/>
            </a:pPr>
            <a:r>
              <a:rPr lang="es-MX" sz="1500" b="1" dirty="0">
                <a:solidFill>
                  <a:srgbClr val="002B5C"/>
                </a:solidFill>
              </a:rPr>
              <a:t>El algoritmo manda</a:t>
            </a:r>
          </a:p>
          <a:p>
            <a:pPr>
              <a:buNone/>
            </a:pPr>
            <a:r>
              <a:rPr lang="es-MX" sz="1300" dirty="0"/>
              <a:t>Elegir </a:t>
            </a:r>
            <a:r>
              <a:rPr lang="es-MX" sz="1300" b="1" dirty="0">
                <a:solidFill>
                  <a:srgbClr val="002B5C"/>
                </a:solidFill>
              </a:rPr>
              <a:t>PD sobre FB</a:t>
            </a:r>
            <a:r>
              <a:rPr lang="es-MX" sz="1300" dirty="0"/>
              <a:t> importa más que elegir </a:t>
            </a:r>
            <a:r>
              <a:rPr lang="es-MX" sz="1300" b="1" dirty="0">
                <a:solidFill>
                  <a:srgbClr val="002B5C"/>
                </a:solidFill>
              </a:rPr>
              <a:t>C++ sobre Python</a:t>
            </a:r>
            <a:r>
              <a:rPr lang="es-MX" sz="1300" dirty="0"/>
              <a:t>.</a:t>
            </a:r>
          </a:p>
        </p:txBody>
      </p:sp>
      <p:sp>
        <p:nvSpPr>
          <p:cNvPr id="304" name="Card02"/>
          <p:cNvSpPr/>
          <p:nvPr/>
        </p:nvSpPr>
        <p:spPr>
          <a:xfrm>
            <a:off x="3238500" y="1638300"/>
            <a:ext cx="2667000" cy="20574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6350">
            <a:solidFill>
              <a:srgbClr val="C0C9D6"/>
            </a:solidFill>
          </a:ln>
        </p:spPr>
        <p:txBody>
          <a:bodyPr/>
          <a:lstStyle/>
          <a:p>
            <a:pPr>
              <a:spcAft>
                <a:spcPts val="200"/>
              </a:spcAft>
              <a:buNone/>
            </a:pPr>
            <a:r>
              <a:rPr lang="es-MX" sz="3200" b="1" dirty="0">
                <a:solidFill>
                  <a:srgbClr val="C8102E"/>
                </a:solidFill>
              </a:rPr>
              <a:t>02</a:t>
            </a:r>
          </a:p>
          <a:p>
            <a:pPr>
              <a:spcAft>
                <a:spcPts val="200"/>
              </a:spcAft>
              <a:buNone/>
            </a:pPr>
            <a:r>
              <a:rPr lang="es-MX" sz="1500" b="1" dirty="0">
                <a:solidFill>
                  <a:srgbClr val="002B5C"/>
                </a:solidFill>
              </a:rPr>
              <a:t>El lenguaje matiza</a:t>
            </a:r>
          </a:p>
          <a:p>
            <a:pPr>
              <a:spcAft>
                <a:spcPts val="200"/>
              </a:spcAft>
              <a:buNone/>
            </a:pPr>
            <a:r>
              <a:rPr lang="es-MX" sz="1300" b="1" dirty="0">
                <a:solidFill>
                  <a:srgbClr val="002B5C"/>
                </a:solidFill>
              </a:rPr>
              <a:t>C++ &gt; Java &gt; Python</a:t>
            </a:r>
            <a:r>
              <a:rPr lang="es-MX" sz="1300" dirty="0"/>
              <a:t> consistentemente.</a:t>
            </a:r>
          </a:p>
          <a:p>
            <a:pPr>
              <a:buNone/>
            </a:pPr>
            <a:r>
              <a:rPr lang="es-MX" sz="1300" dirty="0"/>
              <a:t>En PD las diferencias se aplanan: todos </a:t>
            </a:r>
            <a:r>
              <a:rPr lang="es-MX" sz="1300" b="1" dirty="0">
                <a:solidFill>
                  <a:srgbClr val="C8102E"/>
                </a:solidFill>
              </a:rPr>
              <a:t>&lt; 0.2 ms</a:t>
            </a:r>
            <a:r>
              <a:rPr lang="es-MX" sz="1300" dirty="0"/>
              <a:t>.</a:t>
            </a:r>
          </a:p>
        </p:txBody>
      </p:sp>
      <p:sp>
        <p:nvSpPr>
          <p:cNvPr id="305" name="Card03"/>
          <p:cNvSpPr/>
          <p:nvPr/>
        </p:nvSpPr>
        <p:spPr>
          <a:xfrm>
            <a:off x="6019800" y="1638300"/>
            <a:ext cx="2667000" cy="20574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6350">
            <a:solidFill>
              <a:srgbClr val="C0C9D6"/>
            </a:solidFill>
          </a:ln>
        </p:spPr>
        <p:txBody>
          <a:bodyPr/>
          <a:lstStyle/>
          <a:p>
            <a:pPr>
              <a:spcAft>
                <a:spcPts val="200"/>
              </a:spcAft>
              <a:buNone/>
            </a:pPr>
            <a:r>
              <a:rPr lang="es-MX" sz="3200" b="1" dirty="0">
                <a:solidFill>
                  <a:srgbClr val="C8102E"/>
                </a:solidFill>
              </a:rPr>
              <a:t>03</a:t>
            </a:r>
          </a:p>
          <a:p>
            <a:pPr>
              <a:spcAft>
                <a:spcPts val="200"/>
              </a:spcAft>
              <a:buNone/>
            </a:pPr>
            <a:r>
              <a:rPr lang="es-MX" sz="1500" b="1" dirty="0">
                <a:solidFill>
                  <a:srgbClr val="002B5C"/>
                </a:solidFill>
              </a:rPr>
              <a:t>Pseudo-polinomial</a:t>
            </a:r>
          </a:p>
          <a:p>
            <a:pPr>
              <a:buNone/>
            </a:pPr>
            <a:r>
              <a:rPr lang="es-MX" sz="1300" dirty="0"/>
              <a:t>PD es práctica para </a:t>
            </a:r>
            <a:r>
              <a:rPr lang="es-MX" sz="1300" b="1" i="1" dirty="0">
                <a:solidFill>
                  <a:srgbClr val="002B5C"/>
                </a:solidFill>
              </a:rPr>
              <a:t>C</a:t>
            </a:r>
            <a:r>
              <a:rPr lang="es-MX" sz="1300" dirty="0"/>
              <a:t> moderado; con </a:t>
            </a:r>
            <a:r>
              <a:rPr lang="es-MX" sz="1300" b="1" i="1" dirty="0">
                <a:solidFill>
                  <a:srgbClr val="C8102E"/>
                </a:solidFill>
              </a:rPr>
              <a:t>C ~ 10⁹</a:t>
            </a:r>
            <a:r>
              <a:rPr lang="es-MX" sz="1300" dirty="0"/>
              <a:t> se rompería incluso con </a:t>
            </a:r>
            <a:r>
              <a:rPr lang="es-MX" sz="1300" b="1" i="1" dirty="0">
                <a:solidFill>
                  <a:srgbClr val="002B5C"/>
                </a:solidFill>
              </a:rPr>
              <a:t>n</a:t>
            </a:r>
            <a:r>
              <a:rPr lang="es-MX" sz="1300" dirty="0"/>
              <a:t> pequeño.</a:t>
            </a:r>
          </a:p>
        </p:txBody>
      </p:sp>
      <p:sp>
        <p:nvSpPr>
          <p:cNvPr id="306" name="LimitsCard"/>
          <p:cNvSpPr/>
          <p:nvPr/>
        </p:nvSpPr>
        <p:spPr>
          <a:xfrm>
            <a:off x="457200" y="3848100"/>
            <a:ext cx="4114800" cy="198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B7A99"/>
            </a:solidFill>
          </a:ln>
        </p:spPr>
        <p:txBody>
          <a:bodyPr/>
          <a:lstStyle/>
          <a:p>
            <a:pPr>
              <a:spcAft>
                <a:spcPts val="300"/>
              </a:spcAft>
              <a:buNone/>
            </a:pPr>
            <a:r>
              <a:rPr lang="es-MX" sz="1300" b="1" spc="150" dirty="0">
                <a:solidFill>
                  <a:srgbClr val="5B7A99"/>
                </a:solidFill>
              </a:rPr>
              <a:t>LIMITACIONES DEL EXPERIMENTO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s-MX" sz="1400" dirty="0"/>
              <a:t>Una sola instancia (n=20) — no se exploró variabilidad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s-MX" sz="1400" dirty="0"/>
              <a:t>No se midió memoria, sólo tiempo</a:t>
            </a:r>
          </a:p>
          <a:p>
            <a:pPr marL="228600" indent="-228600">
              <a:buFont typeface="Arial"/>
              <a:buChar char="•"/>
            </a:pPr>
            <a:r>
              <a:rPr lang="es-MX" sz="1400" dirty="0"/>
              <a:t>Falta probar PD optimizada (rolling array O(C))</a:t>
            </a:r>
          </a:p>
        </p:txBody>
      </p:sp>
      <p:sp>
        <p:nvSpPr>
          <p:cNvPr id="307" name="ImprovCard"/>
          <p:cNvSpPr/>
          <p:nvPr/>
        </p:nvSpPr>
        <p:spPr>
          <a:xfrm>
            <a:off x="4724400" y="3848100"/>
            <a:ext cx="3962400" cy="1981200"/>
          </a:xfrm>
          <a:prstGeom prst="roundRect">
            <a:avLst>
              <a:gd name="adj" fmla="val 4000"/>
            </a:avLst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pPr>
              <a:spcAft>
                <a:spcPts val="300"/>
              </a:spcAft>
              <a:buNone/>
            </a:pPr>
            <a:r>
              <a:rPr lang="es-MX" sz="1300" b="1" spc="150" dirty="0">
                <a:solidFill>
                  <a:srgbClr val="C8102E"/>
                </a:solidFill>
              </a:rPr>
              <a:t>EXTENSIONES POSIBLES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s-MX" sz="1400" dirty="0">
                <a:solidFill>
                  <a:srgbClr val="FFFFFF"/>
                </a:solidFill>
              </a:rPr>
              <a:t>Branch &amp; Bound con bound greedy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s-MX" sz="1400" dirty="0">
                <a:solidFill>
                  <a:srgbClr val="FFFFFF"/>
                </a:solidFill>
              </a:rPr>
              <a:t>Meet-in-the-Middle  </a:t>
            </a:r>
            <a:r>
              <a:rPr lang="es-MX" sz="1400" b="1" dirty="0">
                <a:solidFill>
                  <a:srgbClr val="C0C9D6"/>
                </a:solidFill>
              </a:rPr>
              <a:t>O(2^(n/2))</a:t>
            </a:r>
          </a:p>
          <a:p>
            <a:pPr marL="228600" indent="-228600">
              <a:buFont typeface="Arial"/>
              <a:buChar char="•"/>
            </a:pPr>
            <a:r>
              <a:rPr lang="es-MX" sz="1400" dirty="0">
                <a:solidFill>
                  <a:srgbClr val="FFFFFF"/>
                </a:solidFill>
              </a:rPr>
              <a:t>Aproximación FPTAS para casos grandes</a:t>
            </a:r>
          </a:p>
        </p:txBody>
      </p:sp>
      <p:sp>
        <p:nvSpPr>
          <p:cNvPr id="308" name="ClosingQuote"/>
          <p:cNvSpPr txBox="1"/>
          <p:nvPr/>
        </p:nvSpPr>
        <p:spPr>
          <a:xfrm>
            <a:off x="457200" y="6019800"/>
            <a:ext cx="8229600" cy="304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s-MX" sz="1500" i="1" dirty="0">
                <a:solidFill>
                  <a:srgbClr val="3A4A60"/>
                </a:solidFill>
              </a:rPr>
              <a:t>“Knapsack es NP-completo, pero con una mochila razonable, la PD lo deja casi gratis.”</a:t>
            </a:r>
          </a:p>
        </p:txBody>
      </p:sp>
    </p:spTree>
    <p:extLst>
      <p:ext uri="{BB962C8B-B14F-4D97-AF65-F5344CB8AC3E}">
        <p14:creationId xmlns:p14="http://schemas.microsoft.com/office/powerpoint/2010/main" val="1448827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yebrow"/>
          <p:cNvSpPr txBox="1"/>
          <p:nvPr/>
        </p:nvSpPr>
        <p:spPr>
          <a:xfrm>
            <a:off x="457200" y="381000"/>
            <a:ext cx="3429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1200" b="1" spc="200" dirty="0">
                <a:solidFill>
                  <a:srgbClr val="C8102E"/>
                </a:solidFill>
              </a:rPr>
              <a:t>BACKUP · CÓDIGO</a:t>
            </a:r>
          </a:p>
        </p:txBody>
      </p:sp>
      <p:sp>
        <p:nvSpPr>
          <p:cNvPr id="301" name="Title"/>
          <p:cNvSpPr txBox="1"/>
          <p:nvPr/>
        </p:nvSpPr>
        <p:spPr>
          <a:xfrm>
            <a:off x="457200" y="685800"/>
            <a:ext cx="8229600" cy="6096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s-MX" sz="3200" b="1" dirty="0">
                <a:solidFill>
                  <a:srgbClr val="002B5C"/>
                </a:solidFill>
              </a:rPr>
              <a:t>Núcleo de la recurrencia PD</a:t>
            </a:r>
          </a:p>
        </p:txBody>
      </p:sp>
      <p:sp>
        <p:nvSpPr>
          <p:cNvPr id="302" name="TitleLine"/>
          <p:cNvSpPr/>
          <p:nvPr/>
        </p:nvSpPr>
        <p:spPr>
          <a:xfrm>
            <a:off x="457200" y="1371600"/>
            <a:ext cx="685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3" name="PythonCard"/>
          <p:cNvSpPr/>
          <p:nvPr/>
        </p:nvSpPr>
        <p:spPr>
          <a:xfrm>
            <a:off x="457200" y="1638300"/>
            <a:ext cx="2667000" cy="3962400"/>
          </a:xfrm>
          <a:prstGeom prst="roundRect">
            <a:avLst>
              <a:gd name="adj" fmla="val 3000"/>
            </a:avLst>
          </a:prstGeom>
          <a:solidFill>
            <a:srgbClr val="002B5C"/>
          </a:solidFill>
          <a:ln w="6350">
            <a:solidFill>
              <a:srgbClr val="FFD43B"/>
            </a:solidFill>
          </a:ln>
        </p:spPr>
        <p:txBody>
          <a:bodyPr/>
          <a:lstStyle/>
          <a:p>
            <a:pPr>
              <a:spcAft>
                <a:spcPts val="200"/>
              </a:spcAft>
              <a:buNone/>
            </a:pPr>
            <a:r>
              <a:rPr lang="es-MX" sz="1500" b="1" dirty="0">
                <a:solidFill>
                  <a:srgbClr val="FFD43B"/>
                </a:solidFill>
              </a:rPr>
              <a:t>Python</a:t>
            </a:r>
          </a:p>
          <a:p>
            <a:pPr marL="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def knapsack_pd(w, v, C):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n = len(w)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 = [[0]*(C+1)</a:t>
            </a:r>
          </a:p>
          <a:p>
            <a:pPr marL="64008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for _ in range(n+1)]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for i in range(1, n+1):</a:t>
            </a:r>
          </a:p>
          <a:p>
            <a:pPr marL="512064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for c in range(C+1):</a:t>
            </a:r>
          </a:p>
          <a:p>
            <a:pPr marL="768096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dp[i][c] = dp[i-1][c]</a:t>
            </a:r>
          </a:p>
          <a:p>
            <a:pPr marL="768096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if w[i-1] &lt;= c:</a:t>
            </a:r>
          </a:p>
          <a:p>
            <a:pPr marL="1024128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dp[i][c] = max(</a:t>
            </a:r>
          </a:p>
          <a:p>
            <a:pPr marL="1152144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dp[i][c],</a:t>
            </a:r>
          </a:p>
          <a:p>
            <a:pPr marL="1152144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dp[i-1][c-w[i-1]]</a:t>
            </a:r>
          </a:p>
          <a:p>
            <a:pPr marL="1152144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+ v[i-1])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return dp[n][C]</a:t>
            </a:r>
          </a:p>
        </p:txBody>
      </p:sp>
      <p:sp>
        <p:nvSpPr>
          <p:cNvPr id="304" name="C++Card"/>
          <p:cNvSpPr/>
          <p:nvPr/>
        </p:nvSpPr>
        <p:spPr>
          <a:xfrm>
            <a:off x="3238500" y="1638300"/>
            <a:ext cx="2667000" cy="3962400"/>
          </a:xfrm>
          <a:prstGeom prst="roundRect">
            <a:avLst>
              <a:gd name="adj" fmla="val 3000"/>
            </a:avLst>
          </a:prstGeom>
          <a:solidFill>
            <a:srgbClr val="002B5C"/>
          </a:solidFill>
          <a:ln w="6350">
            <a:solidFill>
              <a:srgbClr val="00599C"/>
            </a:solidFill>
          </a:ln>
        </p:spPr>
        <p:txBody>
          <a:bodyPr/>
          <a:lstStyle/>
          <a:p>
            <a:pPr>
              <a:spcAft>
                <a:spcPts val="200"/>
              </a:spcAft>
              <a:buNone/>
            </a:pPr>
            <a:r>
              <a:rPr lang="es-MX" sz="1500" b="1" dirty="0">
                <a:solidFill>
                  <a:srgbClr val="5BB5FF"/>
                </a:solidFill>
              </a:rPr>
              <a:t>C++</a:t>
            </a:r>
          </a:p>
          <a:p>
            <a:pPr marL="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int knapsackPD(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vector&lt;int&gt;&amp; w,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vector&lt;int&gt;&amp; v, int C) {</a:t>
            </a:r>
          </a:p>
          <a:p>
            <a:pPr marL="128016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int n = w.size();</a:t>
            </a:r>
          </a:p>
          <a:p>
            <a:pPr marL="128016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vector&lt;vector&lt;int&gt;&gt; dp(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n+1, vector&lt;int&gt;(C+1, 0));</a:t>
            </a:r>
          </a:p>
          <a:p>
            <a:pPr marL="128016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for (int i=1; i&lt;=n; ++i)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for (int c=0; c&lt;=C; ++c) {</a:t>
            </a:r>
          </a:p>
          <a:p>
            <a:pPr marL="384048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dp[i][c] = dp[i-1][c];</a:t>
            </a:r>
          </a:p>
          <a:p>
            <a:pPr marL="384048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if (w[i-1] &lt;= c)</a:t>
            </a:r>
          </a:p>
          <a:p>
            <a:pPr marL="512064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dp[i][c] = max(</a:t>
            </a:r>
          </a:p>
          <a:p>
            <a:pPr marL="64008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dp[i][c],</a:t>
            </a:r>
          </a:p>
          <a:p>
            <a:pPr marL="64008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dp[i-1][c-w[i-1]]</a:t>
            </a:r>
          </a:p>
          <a:p>
            <a:pPr marL="64008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+ v[i-1]);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}</a:t>
            </a:r>
          </a:p>
          <a:p>
            <a:pPr marL="128016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return dp[n][C];</a:t>
            </a:r>
          </a:p>
          <a:p>
            <a:pPr marL="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305" name="JavaCard"/>
          <p:cNvSpPr/>
          <p:nvPr/>
        </p:nvSpPr>
        <p:spPr>
          <a:xfrm>
            <a:off x="6019800" y="1638300"/>
            <a:ext cx="2667000" cy="3962400"/>
          </a:xfrm>
          <a:prstGeom prst="roundRect">
            <a:avLst>
              <a:gd name="adj" fmla="val 3000"/>
            </a:avLst>
          </a:prstGeom>
          <a:solidFill>
            <a:srgbClr val="002B5C"/>
          </a:solidFill>
          <a:ln w="6350">
            <a:solidFill>
              <a:srgbClr val="F89820"/>
            </a:solidFill>
          </a:ln>
        </p:spPr>
        <p:txBody>
          <a:bodyPr/>
          <a:lstStyle/>
          <a:p>
            <a:pPr>
              <a:spcAft>
                <a:spcPts val="200"/>
              </a:spcAft>
              <a:buNone/>
            </a:pPr>
            <a:r>
              <a:rPr lang="es-MX" sz="1500" b="1" dirty="0">
                <a:solidFill>
                  <a:srgbClr val="F89820"/>
                </a:solidFill>
              </a:rPr>
              <a:t>Java</a:t>
            </a:r>
          </a:p>
          <a:p>
            <a:pPr marL="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static int knapsackPD(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int[] w, int[] v, int C) {</a:t>
            </a:r>
          </a:p>
          <a:p>
            <a:pPr marL="128016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int n = w.length;</a:t>
            </a:r>
          </a:p>
          <a:p>
            <a:pPr marL="128016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int[][] dp =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new int[n+1][C+1];</a:t>
            </a:r>
          </a:p>
          <a:p>
            <a:pPr marL="128016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for (int i=1; i&lt;=n; i++)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for (int c=0; c&lt;=C; c++) {</a:t>
            </a:r>
          </a:p>
          <a:p>
            <a:pPr marL="384048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dp[i][c] = dp[i-1][c];</a:t>
            </a:r>
          </a:p>
          <a:p>
            <a:pPr marL="384048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if (w[i-1] &lt;= c)</a:t>
            </a:r>
          </a:p>
          <a:p>
            <a:pPr marL="512064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dp[i][c] = Math.max(</a:t>
            </a:r>
          </a:p>
          <a:p>
            <a:pPr marL="64008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dp[i][c],</a:t>
            </a:r>
          </a:p>
          <a:p>
            <a:pPr marL="64008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dp[i-1][c-w[i-1]]</a:t>
            </a:r>
          </a:p>
          <a:p>
            <a:pPr marL="64008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+ v[i-1]);</a:t>
            </a:r>
          </a:p>
          <a:p>
            <a:pPr marL="256032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}</a:t>
            </a:r>
          </a:p>
          <a:p>
            <a:pPr marL="128016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return dp[n][C];</a:t>
            </a:r>
          </a:p>
          <a:p>
            <a:pPr marL="0">
              <a:lnSpc>
                <a:spcPct val="105000"/>
              </a:lnSpc>
              <a:spcAft>
                <a:spcPts val="0"/>
              </a:spcAft>
              <a:buNone/>
            </a:pPr>
            <a:r>
              <a:rPr lang="es-MX" sz="1000" dirty="0">
                <a:solidFill>
                  <a:srgbClr val="EEF1F6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306" name="Summary"/>
          <p:cNvSpPr/>
          <p:nvPr/>
        </p:nvSpPr>
        <p:spPr>
          <a:xfrm>
            <a:off x="457200" y="5676900"/>
            <a:ext cx="8382000" cy="3048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MX" sz="1200" dirty="0">
                <a:solidFill>
                  <a:srgbClr val="3A4A60"/>
                </a:solidFill>
              </a:rPr>
              <a:t>Misma recurrencia, tres lenguajes  ·  </a:t>
            </a:r>
            <a:r>
              <a:rPr lang="es-MX" sz="1200" b="1" dirty="0">
                <a:solidFill>
                  <a:srgbClr val="002B5C"/>
                </a:solidFill>
              </a:rPr>
              <a:t>O(n·C)</a:t>
            </a:r>
            <a:r>
              <a:rPr lang="es-MX" sz="1200" dirty="0">
                <a:solidFill>
                  <a:srgbClr val="3A4A60"/>
                </a:solidFill>
              </a:rPr>
              <a:t> tiempo y memoria  ·  reconstrucción del óptimo por backtracking sobre </a:t>
            </a:r>
            <a:r>
              <a:rPr lang="es-MX" sz="1200" b="1" i="1" dirty="0">
                <a:solidFill>
                  <a:srgbClr val="C8102E"/>
                </a:solidFill>
              </a:rPr>
              <a:t>dp[][]</a:t>
            </a:r>
          </a:p>
        </p:txBody>
      </p:sp>
    </p:spTree>
    <p:extLst>
      <p:ext uri="{BB962C8B-B14F-4D97-AF65-F5344CB8AC3E}">
        <p14:creationId xmlns:p14="http://schemas.microsoft.com/office/powerpoint/2010/main" val="39159627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77820030541]">
  <a:themeElements>
    <a:clrScheme name="Office">
      <a:dk1>
        <a:srgbClr val="1A1A1A"/>
      </a:dk1>
      <a:lt1>
        <a:srgbClr val="FFFFFF"/>
      </a:lt1>
      <a:dk2>
        <a:srgbClr val="002B5C"/>
      </a:dk2>
      <a:lt2>
        <a:srgbClr val="EEF1F6"/>
      </a:lt2>
      <a:accent1>
        <a:srgbClr val="002B5C"/>
      </a:accent1>
      <a:accent2>
        <a:srgbClr val="C8102E"/>
      </a:accent2>
      <a:accent3>
        <a:srgbClr val="5B7A99"/>
      </a:accent3>
      <a:accent4>
        <a:srgbClr val="8B98A8"/>
      </a:accent4>
      <a:accent5>
        <a:srgbClr val="0F4C81"/>
      </a:accent5>
      <a:accent6>
        <a:srgbClr val="8B0000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2AD91E-5AC4-D348-8F39-74AAF946C08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cb5ac79-8599-4441-8b0e-f43d601bde2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1262</Words>
  <Application>Microsoft Macintosh PowerPoint</Application>
  <PresentationFormat>Panorámica</PresentationFormat>
  <Paragraphs>208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Tema de Office [1777820030541]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MARTÍNEZ IBAÑEZ BASTIÁN</dc:creator>
  <cp:lastModifiedBy>MARTÍNEZ IBAÑEZ BASTIÁN</cp:lastModifiedBy>
  <cp:revision>4</cp:revision>
  <dcterms:created xsi:type="dcterms:W3CDTF">2026-05-03T14:32:37Z</dcterms:created>
  <dcterms:modified xsi:type="dcterms:W3CDTF">2026-05-03T15:16:45Z</dcterms:modified>
</cp:coreProperties>
</file>